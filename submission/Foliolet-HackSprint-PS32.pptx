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d01963a5254b5c" /><Relationship Type="http://schemas.openxmlformats.org/officeDocument/2006/relationships/extended-properties" Target="/docProps/app.xml" Id="Re909e48b42674124" /><Relationship Type="http://schemas.openxmlformats.org/officeDocument/2006/relationships/officeDocument" Target="/ppt/presentation.xml" Id="R9254085b2d85481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1b81b5fd8b547e9"/>
  </p:sldMasterIdLst>
  <p:notesMasterIdLst>
    <p:notesMasterId xmlns:r="http://schemas.openxmlformats.org/officeDocument/2006/relationships" r:id="R3478a4bb3d214fc0"/>
  </p:notesMasterIdLst>
  <p:sldIdLst>
    <p:sldId xmlns:r="http://schemas.openxmlformats.org/officeDocument/2006/relationships" id="256" r:id="Rf822ee37f704436b"/>
    <p:sldId xmlns:r="http://schemas.openxmlformats.org/officeDocument/2006/relationships" id="257" r:id="R4da4b1f382a54b5e"/>
    <p:sldId xmlns:r="http://schemas.openxmlformats.org/officeDocument/2006/relationships" id="258" r:id="R42f21bfd13784bda"/>
    <p:sldId xmlns:r="http://schemas.openxmlformats.org/officeDocument/2006/relationships" id="259" r:id="Rf6f1c25b2d08424d"/>
    <p:sldId xmlns:r="http://schemas.openxmlformats.org/officeDocument/2006/relationships" id="260" r:id="R2f95726f34d549f5"/>
    <p:sldId xmlns:r="http://schemas.openxmlformats.org/officeDocument/2006/relationships" id="261" r:id="R170fc64362ef4de9"/>
    <p:sldId xmlns:r="http://schemas.openxmlformats.org/officeDocument/2006/relationships" id="262" r:id="Rebf9e97393c04413"/>
  </p:sldIdLst>
  <p:sldSz cx="18288000" cy="10287000"/>
  <p:notesSz cx="6858000" cy="9144000"/>
  <p:embeddedFontLst>
    <p:embeddedFont>
      <p:font typeface="Times New Roman MT"/>
      <p:regular xmlns:r="http://schemas.openxmlformats.org/officeDocument/2006/relationships" r:id="R9c9021428d154720"/>
    </p:embeddedFont>
    <p:embeddedFont>
      <p:font typeface="Times New Roman MT Italics"/>
      <p:regular xmlns:r="http://schemas.openxmlformats.org/officeDocument/2006/relationships" r:id="R875658a223e5490e"/>
    </p:embeddedFont>
    <p:embeddedFont>
      <p:font typeface="Times New Roman MT Condensed"/>
      <p:regular xmlns:r="http://schemas.openxmlformats.org/officeDocument/2006/relationships" r:id="Re573f4872aaf49a5"/>
    </p:embeddedFont>
    <p:embeddedFont>
      <p:font typeface="Agrandir Wide Bold"/>
      <p:regular xmlns:r="http://schemas.openxmlformats.org/officeDocument/2006/relationships" r:id="R8ef07c1abe204d2b"/>
    </p:embeddedFont>
    <p:embeddedFont>
      <p:font typeface="Open Sauce Medium"/>
      <p:regular xmlns:r="http://schemas.openxmlformats.org/officeDocument/2006/relationships" r:id="Rd8de8a7bd7b74eca"/>
    </p:embeddedFont>
    <p:embeddedFont>
      <p:font typeface="Open Sauce Bold"/>
      <p:regular xmlns:r="http://schemas.openxmlformats.org/officeDocument/2006/relationships" r:id="R52551024f2364598"/>
    </p:embeddedFont>
    <p:embeddedFont>
      <p:font typeface="Open Sauce"/>
      <p:regular xmlns:r="http://schemas.openxmlformats.org/officeDocument/2006/relationships" r:id="R215664c5cb9c4515"/>
    </p:embeddedFont>
    <p:embeddedFont>
      <p:font typeface="Playfair Display Semi-Bold"/>
      <p:regular xmlns:r="http://schemas.openxmlformats.org/officeDocument/2006/relationships" r:id="R373791151b784cc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c7f550365844ef0" /><Relationship Type="http://schemas.openxmlformats.org/officeDocument/2006/relationships/slideMaster" Target="/ppt/slideMasters/slideMaster1.xml" Id="Rd1b81b5fd8b547e9" /><Relationship Type="http://schemas.openxmlformats.org/officeDocument/2006/relationships/notesMaster" Target="/ppt/notesMasters/notesMaster1.xml" Id="R3478a4bb3d214fc0" /><Relationship Type="http://schemas.openxmlformats.org/officeDocument/2006/relationships/presProps" Target="/ppt/presProps.xml" Id="R1cb18b8abb01494f" /><Relationship Type="http://schemas.openxmlformats.org/officeDocument/2006/relationships/viewProps" Target="/ppt/viewProps.xml" Id="R33133967cd3d42c0" /><Relationship Type="http://schemas.openxmlformats.org/officeDocument/2006/relationships/tableStyles" Target="/ppt/tableStyles.xml" Id="R9e90281fb8544614" /><Relationship Type="http://schemas.openxmlformats.org/officeDocument/2006/relationships/font" Target="/ppt/fonts/font.dat" Id="R9c9021428d154720" /><Relationship Type="http://schemas.openxmlformats.org/officeDocument/2006/relationships/font" Target="/ppt/fonts/font2.dat" Id="R875658a223e5490e" /><Relationship Type="http://schemas.openxmlformats.org/officeDocument/2006/relationships/font" Target="/ppt/fonts/font3.dat" Id="Re573f4872aaf49a5" /><Relationship Type="http://schemas.openxmlformats.org/officeDocument/2006/relationships/font" Target="/ppt/fonts/font4.dat" Id="R8ef07c1abe204d2b" /><Relationship Type="http://schemas.openxmlformats.org/officeDocument/2006/relationships/font" Target="/ppt/fonts/font5.dat" Id="Rd8de8a7bd7b74eca" /><Relationship Type="http://schemas.openxmlformats.org/officeDocument/2006/relationships/font" Target="/ppt/fonts/font6.dat" Id="R52551024f2364598" /><Relationship Type="http://schemas.openxmlformats.org/officeDocument/2006/relationships/font" Target="/ppt/fonts/font7.dat" Id="R215664c5cb9c4515" /><Relationship Type="http://schemas.openxmlformats.org/officeDocument/2006/relationships/font" Target="/ppt/fonts/font8.dat" Id="R373791151b784cc8" /><Relationship Type="http://schemas.openxmlformats.org/officeDocument/2006/relationships/slide" Target="/ppt/slides/slide1.xml" Id="Rf822ee37f704436b" /><Relationship Type="http://schemas.openxmlformats.org/officeDocument/2006/relationships/slide" Target="/ppt/slides/slide2.xml" Id="R4da4b1f382a54b5e" /><Relationship Type="http://schemas.openxmlformats.org/officeDocument/2006/relationships/slide" Target="/ppt/slides/slide3.xml" Id="R42f21bfd13784bda" /><Relationship Type="http://schemas.openxmlformats.org/officeDocument/2006/relationships/slide" Target="/ppt/slides/slide4.xml" Id="Rf6f1c25b2d08424d" /><Relationship Type="http://schemas.openxmlformats.org/officeDocument/2006/relationships/slide" Target="/ppt/slides/slide5.xml" Id="R2f95726f34d549f5" /><Relationship Type="http://schemas.openxmlformats.org/officeDocument/2006/relationships/slide" Target="/ppt/slides/slide6.xml" Id="R170fc64362ef4de9" /><Relationship Type="http://schemas.openxmlformats.org/officeDocument/2006/relationships/slide" Target="/ppt/slides/slide7.xml" Id="Rebf9e97393c044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0c4adb20cf4b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74f3d8f9554834" /><Relationship Type="http://schemas.openxmlformats.org/officeDocument/2006/relationships/notesMaster" Target="/ppt/notesMasters/notesMaster1.xml" Id="R1d33378cc3cb4b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5d632337694776" /><Relationship Type="http://schemas.openxmlformats.org/officeDocument/2006/relationships/notesMaster" Target="/ppt/notesMasters/notesMaster1.xml" Id="R66f42706e9624f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f3a00651a14b25" /><Relationship Type="http://schemas.openxmlformats.org/officeDocument/2006/relationships/notesMaster" Target="/ppt/notesMasters/notesMaster1.xml" Id="Rcd91a1ec089542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ef972349e7444a" /><Relationship Type="http://schemas.openxmlformats.org/officeDocument/2006/relationships/notesMaster" Target="/ppt/notesMasters/notesMaster1.xml" Id="R19898eb0665748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fc7cd02aa74613" /><Relationship Type="http://schemas.openxmlformats.org/officeDocument/2006/relationships/notesMaster" Target="/ppt/notesMasters/notesMaster1.xml" Id="R563cda98817242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4e619af8274320" /><Relationship Type="http://schemas.openxmlformats.org/officeDocument/2006/relationships/notesMaster" Target="/ppt/notesMasters/notesMaster1.xml" Id="R9a83864e4e6545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1997d2316d45b1" /><Relationship Type="http://schemas.openxmlformats.org/officeDocument/2006/relationships/notesMaster" Target="/ppt/notesMasters/notesMaster1.xml" Id="R4cec483d4ca845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 recruiter asks whether a student clears a CGPA threshold. Sending the marksheet exposes much more than that answer. Foliolet gives the verifier a selected statement with a proof, while the original stays in an encrypted custodial vault. This is the working PS32 implementation, built on the existing Evidentia foundation; it does not claim to invent Merkle proofs or selective disclosure. Public source: https://github.com/legoambarish/Foliolet. Presenter/team labels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routine eligibility checks demand entire documents, exposing unrelated personal details and creating unnecessary copies. Insight: the verifier usually needs a fact rather than possession of the file. Walk through the actual harmless demo: marksheet CGPA 9.17 is reviewed by the holder; the platform computes education.cgpa_at_least_8_5=true. Five input facts plus the derived boolean are committed. Only the boolean leaf is selected for this presentation. Hidden values and their random salts are absent, though leaf indices/counts and sibling hashes remain visible and can correlate presentations. Membership establishes a committed statement, not faithful extraction or issuer truth. Sources: docs/PROTOCOL.md, docs/SECURITY.md and docs/VALIDATION.md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left to right. Django is the human workflow and forwards authenticated holder actions to Spring. Spring owns extraction/review, encrypted storage, canonical leaves, proofs and release policy; PostgreSQL holds ownership and encrypted sensitive claim/grant records. The storage and bundle arrows show logical data flows; the verifier receives no database access. Spring reads/writes the filesystem vault. Web3j sends actual Solidity transactions. The registry records the root, salted file commitment, provenance digest, version and status, never the private document or facts. The independent verifier uses the released bundle plus separately provisioned registry/operator/chain pins and a trusted RPC. Blockchain is useful here because the verifier can read the commitment/state without asking Spring to assert that it is current. Ganache is a local EVM, not a decentralized public deployment. Sources: docs/ARCHITECTURE.md and docs/SECURITY.md.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security distinction. Cryptographic integrity and issuer authenticity are different questions. The platform holds decryption and signing authority. A malicious custodian could disclose a hidden leaf it possesses and sign new context against an existing root; valid membership plus correct deployment pins does not establish holder consent. Our release policy is enforced by the service. First-seen tracking uses scoped HMAC-authenticated reports, server receipt times and ordered observations, but the holder controls the paired agent. It is sampled continuity, not an independent issuer or complete history. The enrollment snapshot is frozen; concurrent observation/revocation lacks an atomic cutoff guarantee. Custom labels are visibly holder-authored and retain path/type/derivation metadata. These limitations are stated in the UI, not hidden in documentation. Sources: docs/SECURITY.md,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Enrollment is done once per immutable credential version. Every leaf includes canonical path, label, type, value, derivation, a 32-byte random salt and its sorted index. Keccak-256 uses explicit domains for leaves and parent nodes. Web3j anchors the root and metadata. At disclosure, the owner selects claim IDs and the service binds purpose, intended-verifier label, nonce, expiry and one-time flag into its signed context. The service checks owner access, file integrity, active chain state and policy before release; a database lock arbitrates one-time access. The browser or Node recomputes inclusion/signature and compares the bundle against a direct registry read with separate pins. A tampered proof fails. Retained bundles remain copyable: expiry/revocation govern further service releases, not deletion from another device. Sources: docs/PROTOCOL.md and docs/VALIDATION.md.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three explicitly marked slots with final Foliolet screenshots. Slot 1: the holder review screen after uploading the harmless demo marksheet. Slot 2: disclosure composer showing exactly the threshold selected, with one disclosed fact and five private. Slot 3: public verifier showing the platform-derived classification, canonical path/type/derivation, separate service verification and successful independent proof/chain check. Crop screenshots to the relevant product UI and keep text readable. Use synthetic demo records; avoid exposing credentials, active bearer tokens or private documents. These are intentionally empty screenshot placeholders, not fabricated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not performance claims: 14 backend tests, 19 Django tests and 22 browser/Node regressions passed. The contract suite checks authorization, immutable roots, supported assurance levels, supersession and revocation across seven Merkle tree shapes. The 51 live integration and 23 live security checks run through real local HTTP, PostgreSQL, Web3j and Ganache. Browser and independent Node verification were exercised, including a downloaded browser bundle. Tampered proofs fail, genuine selective bundles omit hidden values and salts, and expiry/revocation/concurrent one-time release work. The marksheet path works end to end. This is local validation, not public-chain resilience or production certification. Future work is explicitly unimplemented: issuer integration, holder-controlled signing, production secret management and HTTP/operational hardening. Reproduce from docs/RUN_GUIDE.md; detailed limits are in docs/SECURITY.md. Repository: https://github.com/legoambarish/Foliolet.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19cf493c4c48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5881bf30974a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a25853d24b4d8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3991fc3f2b44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3285b86fe24a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a8841cf83e418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ad631d7c01c4ff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7cf2cafd20f4d2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e2e838425b44c8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345c84b1fef443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4d778bb42ef414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077704-153F-4826-94B0-228B06C18EA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A7C5DB0B-B0B1-4C6C-9F18-18AF6FBFBF47}"/>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CC36C122-B5F7-409F-8820-73585804B2E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636315E6-9AFF-4754-9523-5BF01F61FA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9ABB81D-94BE-44EA-95EA-4BB0B3D785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BF66FF-4000-4FD8-8994-61E9965CB2E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E35BD48-5EB7-406B-B423-499DFDF820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23D911-9893-4526-B5F0-A48989AE98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90A2AD0B-59DA-4F65-BB69-A2DDB6A2E31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EA295E1-226B-4430-A3EE-20C00C6ADA1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DB1D0E-8340-4925-B955-FADAF59C1FAE}"/>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D500905-71D1-4224-8E1B-731781EFD48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88BBD0E-67DC-48C6-AB63-8E5BD027C4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2E75133-769D-43BA-B323-5BE7C9C174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DAEC51C-FB22-4424-892B-D22D891CC8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A774DC-6079-4104-8F37-6390214593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4E13FFF-75E9-4E7A-8D36-387BE3058D7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B6AEA7F9-E22C-4D87-89B8-0A9D49757A45}"/>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29EB25ED-A6E7-4FC1-A089-3649ECD4DCF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373DBA9B-52D4-4833-AD96-FACC3B771A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D5F13AC-5661-4CDD-B856-F33045A2D75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C1B7FB-7E8B-471A-BF71-39800B46E42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703BF15-301C-4F5F-9F82-81A38882757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94520F0-6050-4411-A734-AEEE896D760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798ABDC5-1757-4F57-9DAB-C1EE0538C1AE}"/>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AFF689D-9B3A-4208-9A76-BC957B0E7FA6}"/>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4CBDD61-6798-4C90-9BC2-D1B5DCA612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DE0B2EA5-8B11-4E7E-A905-ADC2715DD3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260D943-CB82-453E-AA28-A3ED37CE2D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7153EB-CB26-4524-97BD-8CA4EBD12B2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23A6D3CC-3E8C-4C15-97EA-29BFCB3B70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602D2796-7783-4D22-BEDB-EA2AE49DCA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211FB8A-DE14-4DDE-869C-E8DE9FA263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C19198F-99F2-437A-BC8D-2756783F3E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1FCB978B-256E-471D-97EC-095E9607779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FD63B2A-3AF0-4567-86CD-9B625B2EB1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147C72B-7405-4AA7-BA45-E8AC212CEDA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7EA0FC8-2D38-41AD-B255-930B8090CC42}"/>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0FA2CCE-D8FC-4718-9843-6C4843250637}"/>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640FE15-C86A-47DB-9FF2-427BB434DC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4129D108-BF09-46FE-8255-8ACBBA60EE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0976055-3FC7-4AC7-8F3C-996898F4A2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C8D345-7CE0-4E19-AD90-32B2411D9BF2}"/>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32A26FDE-5251-498C-9235-AA01A2ECFF9D}"/>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39B8220-E4B0-4CF0-B06D-B560F4280EE3}"/>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F71D316-17B3-41E2-A672-D7DCFAC3F4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97BBC839-759A-4116-A68D-D1B9D2B0FA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CA84FAB-ECF8-41BF-AAA7-8EAD91A0F3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2EE98A-1F54-44B0-824A-770FDADDD5D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86BB5B7-4DB9-43E4-B581-5091F7AEA48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660026A-FFD2-4DD6-AD04-5FC41FE8BDE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28F073A4-7758-4F28-A90D-993B1F174B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F40F449-D026-444B-9991-F055B9FE4F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822A928-C538-4947-A27B-D188DD74092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7332A39-45BD-43C4-80B5-24FA03ACE878}"/>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57F80D6-2C64-4C11-8BD5-3277105F55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F4B35800-C9AF-4B84-85FD-FE691CACCA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6B129F5-9AF7-48F2-930A-0597F66121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743863b74a4ec4" /><Relationship Type="http://schemas.openxmlformats.org/officeDocument/2006/relationships/slideLayout" Target="/ppt/slideLayouts/slideLayout1.xml" Id="Rac7e4018fc364e70" /><Relationship Type="http://schemas.openxmlformats.org/officeDocument/2006/relationships/slideLayout" Target="/ppt/slideLayouts/slideLayout2.xml" Id="R0fa97a14931142bf" /><Relationship Type="http://schemas.openxmlformats.org/officeDocument/2006/relationships/slideLayout" Target="/ppt/slideLayouts/slideLayout3.xml" Id="Ra2a08b5d34ce4aea" /><Relationship Type="http://schemas.openxmlformats.org/officeDocument/2006/relationships/slideLayout" Target="/ppt/slideLayouts/slideLayout4.xml" Id="Rc8296b8d5f4946dd" /><Relationship Type="http://schemas.openxmlformats.org/officeDocument/2006/relationships/slideLayout" Target="/ppt/slideLayouts/slideLayout5.xml" Id="Re6ab8ba9c9b2409d" /><Relationship Type="http://schemas.openxmlformats.org/officeDocument/2006/relationships/slideLayout" Target="/ppt/slideLayouts/slideLayout6.xml" Id="Rfd0992d9218a45f4" /><Relationship Type="http://schemas.openxmlformats.org/officeDocument/2006/relationships/slideLayout" Target="/ppt/slideLayouts/slideLayout7.xml" Id="Rbb23298c80e44ef1" /><Relationship Type="http://schemas.openxmlformats.org/officeDocument/2006/relationships/slideLayout" Target="/ppt/slideLayouts/slideLayout8.xml" Id="R5dcd8547bb4a49ee" /><Relationship Type="http://schemas.openxmlformats.org/officeDocument/2006/relationships/slideLayout" Target="/ppt/slideLayouts/slideLayout9.xml" Id="R3e0ad7b592cc46be" /><Relationship Type="http://schemas.openxmlformats.org/officeDocument/2006/relationships/slideLayout" Target="/ppt/slideLayouts/slideLayout10.xml" Id="R96775e0f48b748ee" /><Relationship Type="http://schemas.openxmlformats.org/officeDocument/2006/relationships/slideLayout" Target="/ppt/slideLayouts/slideLayout11.xml" Id="R4dd8b146682e480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FBDC681-2DF1-42AD-BE8C-184DFD9303A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B98605E-A398-4A84-A380-F8A6BF54BC5D}"/>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588DDE0-CD9B-4244-B3BB-BBB4DF0E933B}"/>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664A16F9-9E00-4144-9C3D-3FFED0582ED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BBD6773-DF97-4285-9907-6DB90D95D452}"/>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7e4018fc364e70"/>
    <p:sldLayoutId xmlns:r="http://schemas.openxmlformats.org/officeDocument/2006/relationships" id="2147483650" r:id="R0fa97a14931142bf"/>
    <p:sldLayoutId xmlns:r="http://schemas.openxmlformats.org/officeDocument/2006/relationships" id="2147483651" r:id="Ra2a08b5d34ce4aea"/>
    <p:sldLayoutId xmlns:r="http://schemas.openxmlformats.org/officeDocument/2006/relationships" id="2147483652" r:id="Rc8296b8d5f4946dd"/>
    <p:sldLayoutId xmlns:r="http://schemas.openxmlformats.org/officeDocument/2006/relationships" id="2147483653" r:id="Re6ab8ba9c9b2409d"/>
    <p:sldLayoutId xmlns:r="http://schemas.openxmlformats.org/officeDocument/2006/relationships" id="2147483654" r:id="Rfd0992d9218a45f4"/>
    <p:sldLayoutId xmlns:r="http://schemas.openxmlformats.org/officeDocument/2006/relationships" id="2147483655" r:id="Rbb23298c80e44ef1"/>
    <p:sldLayoutId xmlns:r="http://schemas.openxmlformats.org/officeDocument/2006/relationships" id="2147483656" r:id="R5dcd8547bb4a49ee"/>
    <p:sldLayoutId xmlns:r="http://schemas.openxmlformats.org/officeDocument/2006/relationships" id="2147483657" r:id="R3e0ad7b592cc46be"/>
    <p:sldLayoutId xmlns:r="http://schemas.openxmlformats.org/officeDocument/2006/relationships" id="2147483658" r:id="R96775e0f48b748ee"/>
    <p:sldLayoutId xmlns:r="http://schemas.openxmlformats.org/officeDocument/2006/relationships" id="2147483659" r:id="R4dd8b146682e480c"/>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88fd9c67d37b43a7" /><Relationship Type="http://schemas.openxmlformats.org/officeDocument/2006/relationships/image" Target="/ppt/media/image.jpeg" Id="Refd7ae1a72904c4c" /><Relationship Type="http://schemas.openxmlformats.org/officeDocument/2006/relationships/image" Target="/ppt/media/image.png" Id="Rc8eb2fe77b4741c7" /><Relationship Type="http://schemas.openxmlformats.org/officeDocument/2006/relationships/image" Target="/ppt/media/image2.png" Id="Recdf19cbc4de4520" /><Relationship Type="http://schemas.openxmlformats.org/officeDocument/2006/relationships/image" Target="/ppt/media/image3.png" Id="R2e33f376ed7d4249" /><Relationship Type="http://schemas.openxmlformats.org/officeDocument/2006/relationships/image" Target="/ppt/media/image4.png" Id="Rea18ac91e0cf4945" /><Relationship Type="http://schemas.openxmlformats.org/officeDocument/2006/relationships/image" Target="/ppt/media/image5.png" Id="Rbb2bc6d3df214cbd" /><Relationship Type="http://schemas.openxmlformats.org/officeDocument/2006/relationships/image" Target="/ppt/media/image6.png" Id="Rf1fd187d0b464a86" /><Relationship Type="http://schemas.openxmlformats.org/officeDocument/2006/relationships/image" Target="/ppt/media/image7.png" Id="Rcbabe94031874448" /><Relationship Type="http://schemas.openxmlformats.org/officeDocument/2006/relationships/image" Target="/ppt/media/image8.png" Id="R507bceb7ce2d4e34" /><Relationship Type="http://schemas.openxmlformats.org/officeDocument/2006/relationships/image" Target="/ppt/media/image9.png" Id="Rd4e609cde98749fb" /><Relationship Type="http://schemas.openxmlformats.org/officeDocument/2006/relationships/image" Target="/ppt/media/image10.png" Id="R0b91bda103074b9b" /><Relationship Type="http://schemas.openxmlformats.org/officeDocument/2006/relationships/image" Target="/ppt/media/image11.png" Id="Rd698a998a6ba4387" /><Relationship Type="http://schemas.openxmlformats.org/officeDocument/2006/relationships/image" Target="/ppt/media/image12.png" Id="Rddd5a1f6476047af" /><Relationship Type="http://schemas.openxmlformats.org/officeDocument/2006/relationships/image" Target="/ppt/media/image13.png" Id="R584be8d4f80b4ccb" /><Relationship Type="http://schemas.openxmlformats.org/officeDocument/2006/relationships/image" Target="/ppt/media/image14.png" Id="R5e84fe5388124863" /><Relationship Type="http://schemas.openxmlformats.org/officeDocument/2006/relationships/image" Target="/ppt/media/image15.png" Id="R5893914ed3144df6" /><Relationship Type="http://schemas.openxmlformats.org/officeDocument/2006/relationships/notesSlide" Target="/ppt/notesSlides/notesSlide1.xml" Id="R1c043f9dba5c44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0bae58c8ae514e88" /><Relationship Type="http://schemas.openxmlformats.org/officeDocument/2006/relationships/image" Target="/ppt/media/image.jpeg" Id="R060a4813e1c74409" /><Relationship Type="http://schemas.openxmlformats.org/officeDocument/2006/relationships/notesSlide" Target="/ppt/notesSlides/notesSlide2.xml" Id="R3a340f6cb4c445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ffb8ea4081dd403d" /><Relationship Type="http://schemas.openxmlformats.org/officeDocument/2006/relationships/image" Target="/ppt/media/image.jpeg" Id="Rd81893a892b84391" /><Relationship Type="http://schemas.openxmlformats.org/officeDocument/2006/relationships/notesSlide" Target="/ppt/notesSlides/notesSlide3.xml" Id="R1d5c925fa98341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8cedd365c32845cf" /><Relationship Type="http://schemas.openxmlformats.org/officeDocument/2006/relationships/image" Target="/ppt/media/image.jpeg" Id="Rac3101aedea64e63" /><Relationship Type="http://schemas.openxmlformats.org/officeDocument/2006/relationships/notesSlide" Target="/ppt/notesSlides/notesSlide4.xml" Id="Rfef9c35f82ae46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60065bd38d8642ec" /><Relationship Type="http://schemas.openxmlformats.org/officeDocument/2006/relationships/image" Target="/ppt/media/image.jpeg" Id="R04718a5f5c5b4846" /><Relationship Type="http://schemas.openxmlformats.org/officeDocument/2006/relationships/notesSlide" Target="/ppt/notesSlides/notesSlide5.xml" Id="R6fde9baa05b341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d9da44b57ca5438c" /><Relationship Type="http://schemas.openxmlformats.org/officeDocument/2006/relationships/image" Target="/ppt/media/image.jpeg" Id="R89d138c3a58e465d" /><Relationship Type="http://schemas.openxmlformats.org/officeDocument/2006/relationships/notesSlide" Target="/ppt/notesSlides/notesSlide6.xml" Id="R3305fb2f277546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17f19de8c0d84298" /><Relationship Type="http://schemas.openxmlformats.org/officeDocument/2006/relationships/image" Target="/ppt/media/image.jpeg" Id="Rdca4d0fd33a4445c" /><Relationship Type="http://schemas.openxmlformats.org/officeDocument/2006/relationships/notesSlide" Target="/ppt/notesSlides/notesSlide7.xml" Id="R536c5051d992428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BBC15A1B-5B00-4409-BFB8-84462C2D2E10}"/>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fd7ae1a72904c4c"/>
            <a:stretch>
              <a:fillRect l="-7181" t="-19076" r="-3000" b="-11427"/>
            </a:stretch>
          </a:blipFill>
        </p:spPr>
      </p:sp>
      <p:sp>
        <p:nvSpPr>
          <p:cNvPr id="3" name="Freeform 3">
            <a:extLst xmlns:a="http://schemas.openxmlformats.org/drawingml/2006/main">
              <a:ext uri="{FF2B5EF4-FFF2-40B4-BE49-F238E27FC236}">
                <a16:creationId xmlns:a16="http://schemas.microsoft.com/office/drawing/2014/main" id="{25EFA661-5E1F-4E7B-8BB8-5C6557E4ECC0}"/>
              </a:ext>
            </a:extLst>
          </p:cNvPr>
          <p:cNvSpPr>
            <a:spLocks xmlns:a="http://schemas.openxmlformats.org/drawingml/2006/main" noGrp="1"/>
          </p:cNvSpPr>
          <p:nvPr/>
        </p:nvSpPr>
        <p:spPr>
          <a:xfrm xmlns:a="http://schemas.openxmlformats.org/drawingml/2006/main" rot="0" flipH="0" flipV="0">
            <a:off x="5317038" y="-4518398"/>
            <a:ext cx="22188662" cy="18920878"/>
          </a:xfrm>
          <a:custGeom xmlns:a="http://schemas.openxmlformats.org/drawingml/2006/main">
            <a:rect l="l" t="t" r="r" b="b"/>
            <a:pathLst>
              <a:path w="22188662" h="18920878">
                <a:moveTo>
                  <a:pt x="0" y="0"/>
                </a:moveTo>
                <a:lnTo>
                  <a:pt x="22188663" y="0"/>
                </a:lnTo>
                <a:lnTo>
                  <a:pt x="22188663" y="18920878"/>
                </a:lnTo>
                <a:lnTo>
                  <a:pt x="0" y="18920878"/>
                </a:lnTo>
                <a:lnTo>
                  <a:pt x="0" y="0"/>
                </a:lnTo>
                <a:close/>
              </a:path>
            </a:pathLst>
          </a:custGeom>
          <a:blipFill xmlns:a="http://schemas.openxmlformats.org/drawingml/2006/main">
            <a:blip xmlns:r="http://schemas.openxmlformats.org/officeDocument/2006/relationships" r:embed="Rc8eb2fe77b4741c7"/>
            <a:stretch>
              <a:fillRect l="0" t="0" r="0" b="0"/>
            </a:stretch>
          </a:blipFill>
        </p:spPr>
      </p:sp>
      <p:sp>
        <p:nvSpPr>
          <p:cNvPr id="4" name="Freeform 4">
            <a:extLst xmlns:a="http://schemas.openxmlformats.org/drawingml/2006/main">
              <a:ext uri="{FF2B5EF4-FFF2-40B4-BE49-F238E27FC236}">
                <a16:creationId xmlns:a16="http://schemas.microsoft.com/office/drawing/2014/main" id="{8ABF524D-816B-43FB-BDE6-462C6B47042B}"/>
              </a:ext>
            </a:extLst>
          </p:cNvPr>
          <p:cNvSpPr>
            <a:spLocks xmlns:a="http://schemas.openxmlformats.org/drawingml/2006/main" noGrp="1"/>
          </p:cNvSpPr>
          <p:nvPr/>
        </p:nvSpPr>
        <p:spPr>
          <a:xfrm xmlns:a="http://schemas.openxmlformats.org/drawingml/2006/main" rot="0" flipH="0" flipV="0">
            <a:off x="1274313" y="307383"/>
            <a:ext cx="14127702" cy="1101598"/>
          </a:xfrm>
          <a:custGeom xmlns:a="http://schemas.openxmlformats.org/drawingml/2006/main">
            <a:rect l="l" t="t" r="r" b="b"/>
            <a:pathLst>
              <a:path w="14127702" h="1101598">
                <a:moveTo>
                  <a:pt x="0" y="0"/>
                </a:moveTo>
                <a:lnTo>
                  <a:pt x="14127702" y="0"/>
                </a:lnTo>
                <a:lnTo>
                  <a:pt x="14127702" y="1101598"/>
                </a:lnTo>
                <a:lnTo>
                  <a:pt x="0" y="1101598"/>
                </a:lnTo>
                <a:lnTo>
                  <a:pt x="0" y="0"/>
                </a:lnTo>
                <a:close/>
              </a:path>
            </a:pathLst>
          </a:custGeom>
          <a:blipFill xmlns:a="http://schemas.openxmlformats.org/drawingml/2006/main">
            <a:blip xmlns:r="http://schemas.openxmlformats.org/officeDocument/2006/relationships" r:embed="Recdf19cbc4de4520"/>
            <a:stretch>
              <a:fillRect l="-953" t="-10071" r="-12922" b="-10071"/>
            </a:stretch>
          </a:blipFill>
        </p:spPr>
      </p:sp>
      <p:sp>
        <p:nvSpPr>
          <p:cNvPr id="5" name="Freeform 5">
            <a:extLst xmlns:a="http://schemas.openxmlformats.org/drawingml/2006/main">
              <a:ext uri="{FF2B5EF4-FFF2-40B4-BE49-F238E27FC236}">
                <a16:creationId xmlns:a16="http://schemas.microsoft.com/office/drawing/2014/main" id="{96183B92-EB29-4AAF-9FEA-44ABCD4CAE5C}"/>
              </a:ext>
            </a:extLst>
          </p:cNvPr>
          <p:cNvSpPr>
            <a:spLocks xmlns:a="http://schemas.openxmlformats.org/drawingml/2006/main" noGrp="1"/>
          </p:cNvSpPr>
          <p:nvPr/>
        </p:nvSpPr>
        <p:spPr>
          <a:xfrm xmlns:a="http://schemas.openxmlformats.org/drawingml/2006/main" rot="0" flipH="0" flipV="0">
            <a:off x="1591320" y="362859"/>
            <a:ext cx="610238" cy="832142"/>
          </a:xfrm>
          <a:custGeom xmlns:a="http://schemas.openxmlformats.org/drawingml/2006/main">
            <a:rect l="l" t="t" r="r" b="b"/>
            <a:pathLst>
              <a:path w="610238" h="832142">
                <a:moveTo>
                  <a:pt x="0" y="0"/>
                </a:moveTo>
                <a:lnTo>
                  <a:pt x="610237" y="0"/>
                </a:lnTo>
                <a:lnTo>
                  <a:pt x="610237" y="832142"/>
                </a:lnTo>
                <a:lnTo>
                  <a:pt x="0" y="832142"/>
                </a:lnTo>
                <a:lnTo>
                  <a:pt x="0" y="0"/>
                </a:lnTo>
                <a:close/>
              </a:path>
            </a:pathLst>
          </a:custGeom>
          <a:blipFill xmlns:a="http://schemas.openxmlformats.org/drawingml/2006/main">
            <a:blip xmlns:r="http://schemas.openxmlformats.org/officeDocument/2006/relationships" r:embed="R2e33f376ed7d4249"/>
            <a:stretch>
              <a:fillRect l="0" t="0" r="0" b="0"/>
            </a:stretch>
          </a:blipFill>
        </p:spPr>
      </p:sp>
      <p:sp>
        <p:nvSpPr>
          <p:cNvPr id="6" name="Freeform 6">
            <a:extLst xmlns:a="http://schemas.openxmlformats.org/drawingml/2006/main">
              <a:ext uri="{FF2B5EF4-FFF2-40B4-BE49-F238E27FC236}">
                <a16:creationId xmlns:a16="http://schemas.microsoft.com/office/drawing/2014/main" id="{CFCCEAD5-CA98-48D7-B649-2649C79AFED3}"/>
              </a:ext>
            </a:extLst>
          </p:cNvPr>
          <p:cNvSpPr>
            <a:spLocks xmlns:a="http://schemas.openxmlformats.org/drawingml/2006/main" noGrp="1"/>
          </p:cNvSpPr>
          <p:nvPr/>
        </p:nvSpPr>
        <p:spPr>
          <a:xfrm xmlns:a="http://schemas.openxmlformats.org/drawingml/2006/main" rot="0" flipH="0" flipV="0">
            <a:off x="4415789" y="372692"/>
            <a:ext cx="901250" cy="901250"/>
          </a:xfrm>
          <a:custGeom xmlns:a="http://schemas.openxmlformats.org/drawingml/2006/main">
            <a:rect l="l" t="t" r="r" b="b"/>
            <a:pathLst>
              <a:path w="901250" h="901250">
                <a:moveTo>
                  <a:pt x="0" y="0"/>
                </a:moveTo>
                <a:lnTo>
                  <a:pt x="901249" y="0"/>
                </a:lnTo>
                <a:lnTo>
                  <a:pt x="901249" y="901249"/>
                </a:lnTo>
                <a:lnTo>
                  <a:pt x="0" y="901249"/>
                </a:lnTo>
                <a:lnTo>
                  <a:pt x="0" y="0"/>
                </a:lnTo>
                <a:close/>
              </a:path>
            </a:pathLst>
          </a:custGeom>
          <a:blipFill xmlns:a="http://schemas.openxmlformats.org/drawingml/2006/main">
            <a:blip xmlns:r="http://schemas.openxmlformats.org/officeDocument/2006/relationships" r:embed="Rea18ac91e0cf4945"/>
            <a:stretch>
              <a:fillRect l="0" t="0" r="0" b="0"/>
            </a:stretch>
          </a:blipFill>
        </p:spPr>
      </p:sp>
      <p:sp>
        <p:nvSpPr>
          <p:cNvPr id="7" name="Freeform 7">
            <a:extLst xmlns:a="http://schemas.openxmlformats.org/drawingml/2006/main">
              <a:ext uri="{FF2B5EF4-FFF2-40B4-BE49-F238E27FC236}">
                <a16:creationId xmlns:a16="http://schemas.microsoft.com/office/drawing/2014/main" id="{FAA44FFC-97DB-4BAC-9B7A-79C4D4878A80}"/>
              </a:ext>
            </a:extLst>
          </p:cNvPr>
          <p:cNvSpPr>
            <a:spLocks xmlns:a="http://schemas.openxmlformats.org/drawingml/2006/main" noGrp="1"/>
          </p:cNvSpPr>
          <p:nvPr/>
        </p:nvSpPr>
        <p:spPr>
          <a:xfrm xmlns:a="http://schemas.openxmlformats.org/drawingml/2006/main" rot="0" flipH="0" flipV="0">
            <a:off x="13628758" y="488306"/>
            <a:ext cx="1172861" cy="616220"/>
          </a:xfrm>
          <a:custGeom xmlns:a="http://schemas.openxmlformats.org/drawingml/2006/main">
            <a:rect l="l" t="t" r="r" b="b"/>
            <a:pathLst>
              <a:path w="1172861" h="616220">
                <a:moveTo>
                  <a:pt x="0" y="0"/>
                </a:moveTo>
                <a:lnTo>
                  <a:pt x="1172860" y="0"/>
                </a:lnTo>
                <a:lnTo>
                  <a:pt x="1172860" y="616220"/>
                </a:lnTo>
                <a:lnTo>
                  <a:pt x="0" y="616220"/>
                </a:lnTo>
                <a:lnTo>
                  <a:pt x="0" y="0"/>
                </a:lnTo>
                <a:close/>
              </a:path>
            </a:pathLst>
          </a:custGeom>
          <a:blipFill xmlns:a="http://schemas.openxmlformats.org/drawingml/2006/main">
            <a:blip xmlns:r="http://schemas.openxmlformats.org/officeDocument/2006/relationships" r:embed="Rbb2bc6d3df214cbd"/>
            <a:stretch>
              <a:fillRect l="0" t="0" r="0" b="0"/>
            </a:stretch>
          </a:blipFill>
        </p:spPr>
      </p:sp>
      <p:sp>
        <p:nvSpPr>
          <p:cNvPr id="8" name="Freeform 8">
            <a:extLst xmlns:a="http://schemas.openxmlformats.org/drawingml/2006/main">
              <a:ext uri="{FF2B5EF4-FFF2-40B4-BE49-F238E27FC236}">
                <a16:creationId xmlns:a16="http://schemas.microsoft.com/office/drawing/2014/main" id="{EFFAF811-B2B3-4FD0-A2A4-A797A3DBA98F}"/>
              </a:ext>
            </a:extLst>
          </p:cNvPr>
          <p:cNvSpPr>
            <a:spLocks xmlns:a="http://schemas.openxmlformats.org/drawingml/2006/main" noGrp="1"/>
          </p:cNvSpPr>
          <p:nvPr/>
        </p:nvSpPr>
        <p:spPr>
          <a:xfrm xmlns:a="http://schemas.openxmlformats.org/drawingml/2006/main" rot="0" flipH="0" flipV="0">
            <a:off x="5926638" y="538306"/>
            <a:ext cx="1721890" cy="626142"/>
          </a:xfrm>
          <a:custGeom xmlns:a="http://schemas.openxmlformats.org/drawingml/2006/main">
            <a:rect l="l" t="t" r="r" b="b"/>
            <a:pathLst>
              <a:path w="1721890" h="626142">
                <a:moveTo>
                  <a:pt x="0" y="0"/>
                </a:moveTo>
                <a:lnTo>
                  <a:pt x="1721890" y="0"/>
                </a:lnTo>
                <a:lnTo>
                  <a:pt x="1721890" y="626142"/>
                </a:lnTo>
                <a:lnTo>
                  <a:pt x="0" y="626142"/>
                </a:lnTo>
                <a:lnTo>
                  <a:pt x="0" y="0"/>
                </a:lnTo>
                <a:close/>
              </a:path>
            </a:pathLst>
          </a:custGeom>
          <a:blipFill xmlns:a="http://schemas.openxmlformats.org/drawingml/2006/main">
            <a:blip xmlns:r="http://schemas.openxmlformats.org/officeDocument/2006/relationships" r:embed="Rf1fd187d0b464a86"/>
            <a:stretch>
              <a:fillRect l="-72696" t="-170787" r="-73662" b="-156814"/>
            </a:stretch>
          </a:blipFill>
        </p:spPr>
      </p:sp>
      <p:sp>
        <p:nvSpPr>
          <p:cNvPr id="9" name="Freeform 9">
            <a:extLst xmlns:a="http://schemas.openxmlformats.org/drawingml/2006/main">
              <a:ext uri="{FF2B5EF4-FFF2-40B4-BE49-F238E27FC236}">
                <a16:creationId xmlns:a16="http://schemas.microsoft.com/office/drawing/2014/main" id="{E4F352FC-5DB0-466E-A247-BC9BC91D43D4}"/>
              </a:ext>
            </a:extLst>
          </p:cNvPr>
          <p:cNvSpPr>
            <a:spLocks xmlns:a="http://schemas.openxmlformats.org/drawingml/2006/main" noGrp="1"/>
          </p:cNvSpPr>
          <p:nvPr/>
        </p:nvSpPr>
        <p:spPr>
          <a:xfrm xmlns:a="http://schemas.openxmlformats.org/drawingml/2006/main" rot="0" flipH="0" flipV="0">
            <a:off x="8258128" y="488306"/>
            <a:ext cx="1474047" cy="670021"/>
          </a:xfrm>
          <a:custGeom xmlns:a="http://schemas.openxmlformats.org/drawingml/2006/main">
            <a:rect l="l" t="t" r="r" b="b"/>
            <a:pathLst>
              <a:path w="1474047" h="670021">
                <a:moveTo>
                  <a:pt x="0" y="0"/>
                </a:moveTo>
                <a:lnTo>
                  <a:pt x="1474047" y="0"/>
                </a:lnTo>
                <a:lnTo>
                  <a:pt x="1474047" y="670021"/>
                </a:lnTo>
                <a:lnTo>
                  <a:pt x="0" y="670021"/>
                </a:lnTo>
                <a:lnTo>
                  <a:pt x="0" y="0"/>
                </a:lnTo>
                <a:close/>
              </a:path>
            </a:pathLst>
          </a:custGeom>
          <a:blipFill xmlns:a="http://schemas.openxmlformats.org/drawingml/2006/main">
            <a:blip xmlns:r="http://schemas.openxmlformats.org/officeDocument/2006/relationships" r:embed="Rcbabe94031874448"/>
            <a:stretch>
              <a:fillRect l="-16056" t="-88645" r="-11397" b="-91754"/>
            </a:stretch>
          </a:blipFill>
        </p:spPr>
      </p:sp>
      <p:sp>
        <p:nvSpPr>
          <p:cNvPr id="10" name="Freeform 10">
            <a:extLst xmlns:a="http://schemas.openxmlformats.org/drawingml/2006/main">
              <a:ext uri="{FF2B5EF4-FFF2-40B4-BE49-F238E27FC236}">
                <a16:creationId xmlns:a16="http://schemas.microsoft.com/office/drawing/2014/main" id="{071EEB0E-EAA0-4546-B7FB-9E3C06C0071B}"/>
              </a:ext>
            </a:extLst>
          </p:cNvPr>
          <p:cNvSpPr>
            <a:spLocks xmlns:a="http://schemas.openxmlformats.org/drawingml/2006/main" noGrp="1"/>
          </p:cNvSpPr>
          <p:nvPr/>
        </p:nvSpPr>
        <p:spPr>
          <a:xfrm xmlns:a="http://schemas.openxmlformats.org/drawingml/2006/main" rot="0" flipH="0" flipV="0">
            <a:off x="10341775" y="488306"/>
            <a:ext cx="2677383" cy="585678"/>
          </a:xfrm>
          <a:custGeom xmlns:a="http://schemas.openxmlformats.org/drawingml/2006/main">
            <a:rect l="l" t="t" r="r" b="b"/>
            <a:pathLst>
              <a:path w="2677383" h="585678">
                <a:moveTo>
                  <a:pt x="0" y="0"/>
                </a:moveTo>
                <a:lnTo>
                  <a:pt x="2677383" y="0"/>
                </a:lnTo>
                <a:lnTo>
                  <a:pt x="2677383" y="585677"/>
                </a:lnTo>
                <a:lnTo>
                  <a:pt x="0" y="585677"/>
                </a:lnTo>
                <a:lnTo>
                  <a:pt x="0" y="0"/>
                </a:lnTo>
                <a:close/>
              </a:path>
            </a:pathLst>
          </a:custGeom>
          <a:blipFill xmlns:a="http://schemas.openxmlformats.org/drawingml/2006/main">
            <a:blip xmlns:r="http://schemas.openxmlformats.org/officeDocument/2006/relationships" r:embed="R507bceb7ce2d4e34"/>
            <a:stretch>
              <a:fillRect l="0" t="0" r="0" b="0"/>
            </a:stretch>
          </a:blipFill>
        </p:spPr>
      </p:sp>
      <p:sp>
        <p:nvSpPr>
          <p:cNvPr id="11" name="TextBox 11">
            <a:extLst xmlns:a="http://schemas.openxmlformats.org/drawingml/2006/main">
              <a:ext uri="{FF2B5EF4-FFF2-40B4-BE49-F238E27FC236}">
                <a16:creationId xmlns:a16="http://schemas.microsoft.com/office/drawing/2014/main" id="{30C425B8-98A8-426F-846C-57EB9183D3F9}"/>
              </a:ext>
            </a:extLst>
          </p:cNvPr>
          <p:cNvSpPr>
            <a:spLocks xmlns:a="http://schemas.openxmlformats.org/drawingml/2006/main" noGrp="1"/>
          </p:cNvSpPr>
          <p:nvPr/>
        </p:nvSpPr>
        <p:spPr>
          <a:xfrm xmlns:a="http://schemas.openxmlformats.org/drawingml/2006/main" rot="0">
            <a:off x="2149315" y="481156"/>
            <a:ext cx="1655535" cy="4613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82"/>
              </a:lnSpc>
              <a:buNone/>
            </a:pPr>
            <a:r>
              <a:rPr sz="2652" spc="-53">
                <a:solidFill>
                  <a:srgbClr val="000000"/>
                </a:solidFill>
                <a:latin typeface="Times New Roman MT"/>
                <a:ea typeface="Times New Roman MT"/>
                <a:cs typeface="Times New Roman MT"/>
              </a:rPr>
              <a:t>MANIPAL</a:t>
            </a:r>
          </a:p>
        </p:txBody>
      </p:sp>
      <p:sp>
        <p:nvSpPr>
          <p:cNvPr id="12" name="TextBox 12">
            <a:extLst xmlns:a="http://schemas.openxmlformats.org/drawingml/2006/main">
              <a:ext uri="{FF2B5EF4-FFF2-40B4-BE49-F238E27FC236}">
                <a16:creationId xmlns:a16="http://schemas.microsoft.com/office/drawing/2014/main" id="{3CA7619F-43C5-4B8E-BB90-FED31A91A53D}"/>
              </a:ext>
            </a:extLst>
          </p:cNvPr>
          <p:cNvSpPr>
            <a:spLocks xmlns:a="http://schemas.openxmlformats.org/drawingml/2006/main" noGrp="1"/>
          </p:cNvSpPr>
          <p:nvPr/>
        </p:nvSpPr>
        <p:spPr>
          <a:xfrm xmlns:a="http://schemas.openxmlformats.org/drawingml/2006/main" rot="0">
            <a:off x="2149315" y="833903"/>
            <a:ext cx="1655535" cy="3024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lvl="1" indent="0" algn="l">
              <a:lnSpc>
                <a:spcPts val="1153"/>
              </a:lnSpc>
              <a:spcBef>
                <a:spcPct val="0"/>
              </a:spcBef>
              <a:buNone/>
            </a:pPr>
            <a:r>
              <a:rPr sz="823" u="none" spc="-16">
                <a:solidFill>
                  <a:srgbClr val="000000"/>
                </a:solidFill>
                <a:latin typeface="Times New Roman MT"/>
                <a:ea typeface="Times New Roman MT"/>
                <a:cs typeface="Times New Roman MT"/>
              </a:rPr>
              <a:t>ACADEMY OF HIGHER EDUCATION</a:t>
            </a:r>
          </a:p>
        </p:txBody>
      </p:sp>
      <p:sp>
        <p:nvSpPr>
          <p:cNvPr id="13" name="TextBox 13">
            <a:extLst xmlns:a="http://schemas.openxmlformats.org/drawingml/2006/main">
              <a:ext uri="{FF2B5EF4-FFF2-40B4-BE49-F238E27FC236}">
                <a16:creationId xmlns:a16="http://schemas.microsoft.com/office/drawing/2014/main" id="{5A522443-827D-4A25-955C-0F58718383BE}"/>
              </a:ext>
            </a:extLst>
          </p:cNvPr>
          <p:cNvSpPr>
            <a:spLocks xmlns:a="http://schemas.openxmlformats.org/drawingml/2006/main" noGrp="1"/>
          </p:cNvSpPr>
          <p:nvPr/>
        </p:nvSpPr>
        <p:spPr>
          <a:xfrm xmlns:a="http://schemas.openxmlformats.org/drawingml/2006/main" rot="0">
            <a:off x="2149315" y="1098287"/>
            <a:ext cx="1655535" cy="1326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lvl="1" indent="0" algn="l">
              <a:lnSpc>
                <a:spcPts val="905"/>
              </a:lnSpc>
              <a:spcBef>
                <a:spcPct val="0"/>
              </a:spcBef>
              <a:buNone/>
            </a:pPr>
            <a:r>
              <a:rPr sz="646" i="1" u="none" spc="-12">
                <a:solidFill>
                  <a:srgbClr val="000000"/>
                </a:solidFill>
                <a:latin typeface="Times New Roman MT Italics"/>
                <a:ea typeface="Times New Roman MT Italics"/>
                <a:cs typeface="Times New Roman MT Italics"/>
              </a:rPr>
              <a:t>Institution of Embrace Diamant in the University</a:t>
            </a:r>
          </a:p>
        </p:txBody>
      </p:sp>
      <p:sp>
        <p:nvSpPr>
          <p:cNvPr id="14" name="Freeform 14">
            <a:extLst xmlns:a="http://schemas.openxmlformats.org/drawingml/2006/main">
              <a:ext uri="{FF2B5EF4-FFF2-40B4-BE49-F238E27FC236}">
                <a16:creationId xmlns:a16="http://schemas.microsoft.com/office/drawing/2014/main" id="{4C8761BB-73D6-49A5-AF8B-4B314CC87691}"/>
              </a:ext>
            </a:extLst>
          </p:cNvPr>
          <p:cNvSpPr>
            <a:spLocks xmlns:a="http://schemas.openxmlformats.org/drawingml/2006/main" noGrp="1"/>
          </p:cNvSpPr>
          <p:nvPr/>
        </p:nvSpPr>
        <p:spPr>
          <a:xfrm xmlns:a="http://schemas.openxmlformats.org/drawingml/2006/main" rot="0" flipH="0" flipV="0">
            <a:off x="12144375" y="3869391"/>
            <a:ext cx="6143625" cy="6417609"/>
          </a:xfrm>
          <a:custGeom xmlns:a="http://schemas.openxmlformats.org/drawingml/2006/main">
            <a:rect l="l" t="t" r="r" b="b"/>
            <a:pathLst>
              <a:path w="6143625" h="6417609">
                <a:moveTo>
                  <a:pt x="0" y="0"/>
                </a:moveTo>
                <a:lnTo>
                  <a:pt x="6143625" y="0"/>
                </a:lnTo>
                <a:lnTo>
                  <a:pt x="6143625" y="6417609"/>
                </a:lnTo>
                <a:lnTo>
                  <a:pt x="0" y="6417609"/>
                </a:lnTo>
                <a:lnTo>
                  <a:pt x="0" y="0"/>
                </a:lnTo>
                <a:close/>
              </a:path>
            </a:pathLst>
          </a:custGeom>
          <a:blipFill xmlns:a="http://schemas.openxmlformats.org/drawingml/2006/main">
            <a:blip xmlns:r="http://schemas.openxmlformats.org/officeDocument/2006/relationships" r:embed="Rd4e609cde98749fb"/>
            <a:stretch>
              <a:fillRect l="0" t="0" r="0" b="-4932"/>
            </a:stretch>
          </a:blipFill>
        </p:spPr>
      </p:sp>
      <p:sp>
        <p:nvSpPr>
          <p:cNvPr id="16" name="TextBox 16">
            <a:extLst xmlns:a="http://schemas.openxmlformats.org/drawingml/2006/main">
              <a:ext uri="{FF2B5EF4-FFF2-40B4-BE49-F238E27FC236}">
                <a16:creationId xmlns:a16="http://schemas.microsoft.com/office/drawing/2014/main" id="{DD437B62-B517-4421-9EB5-356712E9A9BE}"/>
              </a:ext>
            </a:extLst>
          </p:cNvPr>
          <p:cNvSpPr>
            <a:spLocks xmlns:a="http://schemas.openxmlformats.org/drawingml/2006/main" noGrp="1"/>
          </p:cNvSpPr>
          <p:nvPr/>
        </p:nvSpPr>
        <p:spPr>
          <a:xfrm xmlns:a="http://schemas.openxmlformats.org/drawingml/2006/main" rot="0" flipH="0" flipV="0">
            <a:off x="1314450" y="1695450"/>
            <a:ext cx="10096500" cy="2509774"/>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lnSpc>
                <a:spcPts val="19762"/>
              </a:lnSpc>
              <a:buNone/>
              <a:defRPr sz="15750" b="1">
                <a:solidFill>
                  <a:srgbClr val="183B3A"/>
                </a:solidFill>
                <a:latin typeface="Times New Roman MT Condensed"/>
                <a:ea typeface="Times New Roman MT Condensed"/>
                <a:cs typeface="Times New Roman MT Condensed"/>
              </a:defRPr>
            </a:pPr>
            <a:r>
              <a:rPr sz="15750" b="1" spc="-329">
                <a:solidFill>
                  <a:srgbClr val="183B3A"/>
                </a:solidFill>
                <a:latin typeface="Times New Roman MT Condensed"/>
                <a:ea typeface="Times New Roman MT Condensed"/>
                <a:cs typeface="Times New Roman MT Condensed"/>
              </a:rPr>
              <a:t>Foliolet</a:t>
            </a:r>
          </a:p>
        </p:txBody>
      </p:sp>
      <p:sp>
        <p:nvSpPr>
          <p:cNvPr id="17" name="Freeform 17">
            <a:extLst xmlns:a="http://schemas.openxmlformats.org/drawingml/2006/main">
              <a:ext uri="{FF2B5EF4-FFF2-40B4-BE49-F238E27FC236}">
                <a16:creationId xmlns:a16="http://schemas.microsoft.com/office/drawing/2014/main" id="{C893449D-6106-448B-8FBF-8C567EFFE63B}"/>
              </a:ext>
            </a:extLst>
          </p:cNvPr>
          <p:cNvSpPr>
            <a:spLocks xmlns:a="http://schemas.openxmlformats.org/drawingml/2006/main" noGrp="1"/>
          </p:cNvSpPr>
          <p:nvPr/>
        </p:nvSpPr>
        <p:spPr>
          <a:xfrm xmlns:a="http://schemas.openxmlformats.org/drawingml/2006/main" rot="0" flipH="0" flipV="0">
            <a:off x="2622029" y="3901147"/>
            <a:ext cx="6295863" cy="785600"/>
          </a:xfrm>
          <a:custGeom xmlns:a="http://schemas.openxmlformats.org/drawingml/2006/main">
            <a:rect l="l" t="t" r="r" b="b"/>
            <a:pathLst>
              <a:path w="8394485" h="1047467">
                <a:moveTo>
                  <a:pt x="0" y="0"/>
                </a:moveTo>
                <a:lnTo>
                  <a:pt x="8394485" y="0"/>
                </a:lnTo>
                <a:lnTo>
                  <a:pt x="8394485" y="1047467"/>
                </a:lnTo>
                <a:lnTo>
                  <a:pt x="0" y="1047467"/>
                </a:lnTo>
                <a:lnTo>
                  <a:pt x="0" y="0"/>
                </a:lnTo>
                <a:close/>
              </a:path>
            </a:pathLst>
          </a:custGeom>
          <a:blipFill xmlns:a="http://schemas.openxmlformats.org/drawingml/2006/main">
            <a:blip xmlns:r="http://schemas.openxmlformats.org/officeDocument/2006/relationships" r:embed="R0b91bda103074b9b"/>
            <a:stretch>
              <a:fillRect l="-1933" t="-18309" r="-1581" b="0"/>
            </a:stretch>
          </a:blipFill>
        </p:spPr>
      </p:sp>
      <p:sp>
        <p:nvSpPr>
          <p:cNvPr id="18" name="Freeform 18">
            <a:extLst xmlns:a="http://schemas.openxmlformats.org/drawingml/2006/main">
              <a:ext uri="{FF2B5EF4-FFF2-40B4-BE49-F238E27FC236}">
                <a16:creationId xmlns:a16="http://schemas.microsoft.com/office/drawing/2014/main" id="{720C3A42-2BF9-4A14-A82C-B49921FF446E}"/>
              </a:ext>
            </a:extLst>
          </p:cNvPr>
          <p:cNvSpPr>
            <a:spLocks xmlns:a="http://schemas.openxmlformats.org/drawingml/2006/main" noGrp="1"/>
          </p:cNvSpPr>
          <p:nvPr/>
        </p:nvSpPr>
        <p:spPr>
          <a:xfrm xmlns:a="http://schemas.openxmlformats.org/drawingml/2006/main" rot="0" flipH="0" flipV="0">
            <a:off x="1028700" y="4675682"/>
            <a:ext cx="9460393" cy="1847819"/>
          </a:xfrm>
          <a:custGeom xmlns:a="http://schemas.openxmlformats.org/drawingml/2006/main">
            <a:rect l="l" t="t" r="r" b="b"/>
            <a:pathLst>
              <a:path w="12613857" h="2463759">
                <a:moveTo>
                  <a:pt x="0" y="0"/>
                </a:moveTo>
                <a:lnTo>
                  <a:pt x="12613857" y="0"/>
                </a:lnTo>
                <a:lnTo>
                  <a:pt x="12613857" y="2463759"/>
                </a:lnTo>
                <a:lnTo>
                  <a:pt x="0" y="2463759"/>
                </a:lnTo>
                <a:lnTo>
                  <a:pt x="0" y="0"/>
                </a:lnTo>
                <a:close/>
              </a:path>
            </a:pathLst>
          </a:custGeom>
          <a:blipFill xmlns:a="http://schemas.openxmlformats.org/drawingml/2006/main">
            <a:blip xmlns:r="http://schemas.openxmlformats.org/officeDocument/2006/relationships" r:embed="Rd698a998a6ba4387"/>
            <a:stretch>
              <a:fillRect l="0" t="0" r="0" b="0"/>
            </a:stretch>
          </a:blipFill>
        </p:spPr>
      </p:sp>
      <p:sp>
        <p:nvSpPr>
          <p:cNvPr id="19" name="Freeform 19">
            <a:extLst xmlns:a="http://schemas.openxmlformats.org/drawingml/2006/main">
              <a:ext uri="{FF2B5EF4-FFF2-40B4-BE49-F238E27FC236}">
                <a16:creationId xmlns:a16="http://schemas.microsoft.com/office/drawing/2014/main" id="{C5680C15-0CBF-4BB2-B3B0-F3CE5D190968}"/>
              </a:ext>
            </a:extLst>
          </p:cNvPr>
          <p:cNvSpPr>
            <a:spLocks xmlns:a="http://schemas.openxmlformats.org/drawingml/2006/main" noGrp="1"/>
          </p:cNvSpPr>
          <p:nvPr/>
        </p:nvSpPr>
        <p:spPr>
          <a:xfrm xmlns:a="http://schemas.openxmlformats.org/drawingml/2006/main" rot="0" flipH="0" flipV="0">
            <a:off x="3341240" y="5129339"/>
            <a:ext cx="431526" cy="929442"/>
          </a:xfrm>
          <a:custGeom xmlns:a="http://schemas.openxmlformats.org/drawingml/2006/main">
            <a:rect l="l" t="t" r="r" b="b"/>
            <a:pathLst>
              <a:path w="575369" h="1239256">
                <a:moveTo>
                  <a:pt x="0" y="0"/>
                </a:moveTo>
                <a:lnTo>
                  <a:pt x="575369" y="0"/>
                </a:lnTo>
                <a:lnTo>
                  <a:pt x="575369" y="1239256"/>
                </a:lnTo>
                <a:lnTo>
                  <a:pt x="0" y="1239256"/>
                </a:lnTo>
                <a:lnTo>
                  <a:pt x="0" y="0"/>
                </a:lnTo>
                <a:close/>
              </a:path>
            </a:pathLst>
          </a:custGeom>
          <a:blipFill xmlns:a="http://schemas.openxmlformats.org/drawingml/2006/main">
            <a:blip xmlns:r="http://schemas.openxmlformats.org/officeDocument/2006/relationships" r:embed="Rddd5a1f6476047af"/>
            <a:stretch>
              <a:fillRect l="0" t="0" r="0" b="0"/>
            </a:stretch>
          </a:blipFill>
        </p:spPr>
      </p:sp>
      <p:sp>
        <p:nvSpPr>
          <p:cNvPr id="20" name="Freeform 20">
            <a:extLst xmlns:a="http://schemas.openxmlformats.org/drawingml/2006/main">
              <a:ext uri="{FF2B5EF4-FFF2-40B4-BE49-F238E27FC236}">
                <a16:creationId xmlns:a16="http://schemas.microsoft.com/office/drawing/2014/main" id="{F21D357B-B967-4F75-B6B5-4E92E94F3ED2}"/>
              </a:ext>
            </a:extLst>
          </p:cNvPr>
          <p:cNvSpPr>
            <a:spLocks xmlns:a="http://schemas.openxmlformats.org/drawingml/2006/main" noGrp="1"/>
          </p:cNvSpPr>
          <p:nvPr/>
        </p:nvSpPr>
        <p:spPr>
          <a:xfrm xmlns:a="http://schemas.openxmlformats.org/drawingml/2006/main" rot="0" flipH="0" flipV="0">
            <a:off x="7545859" y="5129339"/>
            <a:ext cx="55323" cy="929442"/>
          </a:xfrm>
          <a:custGeom xmlns:a="http://schemas.openxmlformats.org/drawingml/2006/main">
            <a:rect l="l" t="t" r="r" b="b"/>
            <a:pathLst>
              <a:path w="73765" h="1239256">
                <a:moveTo>
                  <a:pt x="0" y="0"/>
                </a:moveTo>
                <a:lnTo>
                  <a:pt x="73765" y="0"/>
                </a:lnTo>
                <a:lnTo>
                  <a:pt x="73765" y="1239256"/>
                </a:lnTo>
                <a:lnTo>
                  <a:pt x="0" y="1239256"/>
                </a:lnTo>
                <a:lnTo>
                  <a:pt x="0" y="0"/>
                </a:lnTo>
                <a:close/>
              </a:path>
            </a:pathLst>
          </a:custGeom>
          <a:blipFill xmlns:a="http://schemas.openxmlformats.org/drawingml/2006/main">
            <a:blip xmlns:r="http://schemas.openxmlformats.org/officeDocument/2006/relationships" r:embed="R584be8d4f80b4ccb"/>
            <a:stretch>
              <a:fillRect l="-20000" t="0" r="-280000" b="0"/>
            </a:stretch>
          </a:blipFill>
        </p:spPr>
      </p:sp>
      <p:sp>
        <p:nvSpPr>
          <p:cNvPr id="21" name="TextBox 21">
            <a:extLst xmlns:a="http://schemas.openxmlformats.org/drawingml/2006/main">
              <a:ext uri="{FF2B5EF4-FFF2-40B4-BE49-F238E27FC236}">
                <a16:creationId xmlns:a16="http://schemas.microsoft.com/office/drawing/2014/main" id="{DD1F6222-CF35-4C7C-882F-D7509B4483ED}"/>
              </a:ext>
            </a:extLst>
          </p:cNvPr>
          <p:cNvSpPr>
            <a:spLocks xmlns:a="http://schemas.openxmlformats.org/drawingml/2006/main" noGrp="1"/>
          </p:cNvSpPr>
          <p:nvPr/>
        </p:nvSpPr>
        <p:spPr>
          <a:xfrm xmlns:a="http://schemas.openxmlformats.org/drawingml/2006/main" rot="0" flipH="0" flipV="0">
            <a:off x="2809875" y="4076700"/>
            <a:ext cx="6000750" cy="5524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ctr">
              <a:lnSpc>
                <a:spcPts val="4344"/>
              </a:lnSpc>
              <a:buNone/>
              <a:defRPr sz="3150" b="1">
                <a:solidFill>
                  <a:srgbClr val="183B3A"/>
                </a:solidFill>
                <a:latin typeface="Open Sauce"/>
                <a:ea typeface="Open Sauce"/>
                <a:cs typeface="Open Sauce"/>
              </a:defRPr>
            </a:pPr>
            <a:r>
              <a:rPr sz="3150" b="1">
                <a:solidFill>
                  <a:srgbClr val="183B3A"/>
                </a:solidFill>
                <a:latin typeface="Open Sauce"/>
                <a:ea typeface="Open Sauce"/>
                <a:cs typeface="Open Sauce"/>
              </a:rPr>
              <a:t>HackSprint · PS32</a:t>
            </a:r>
          </a:p>
        </p:txBody>
      </p:sp>
      <p:sp>
        <p:nvSpPr>
          <p:cNvPr id="22" name="TextBox 22">
            <a:extLst xmlns:a="http://schemas.openxmlformats.org/drawingml/2006/main">
              <a:ext uri="{FF2B5EF4-FFF2-40B4-BE49-F238E27FC236}">
                <a16:creationId xmlns:a16="http://schemas.microsoft.com/office/drawing/2014/main" id="{7225EE28-9FDF-42CE-8EBF-82279C4FC56B}"/>
              </a:ext>
            </a:extLst>
          </p:cNvPr>
          <p:cNvSpPr>
            <a:spLocks xmlns:a="http://schemas.openxmlformats.org/drawingml/2006/main" noGrp="1"/>
          </p:cNvSpPr>
          <p:nvPr/>
        </p:nvSpPr>
        <p:spPr>
          <a:xfrm xmlns:a="http://schemas.openxmlformats.org/drawingml/2006/main" rot="0" flipH="0" flipV="0">
            <a:off x="1619250" y="5219700"/>
            <a:ext cx="1543050" cy="752602"/>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ctr">
              <a:lnSpc>
                <a:spcPts val="5926"/>
              </a:lnSpc>
              <a:buNone/>
              <a:defRPr sz="3675" b="1">
                <a:solidFill>
                  <a:srgbClr val="183B3A"/>
                </a:solidFill>
                <a:latin typeface="Open Sauce"/>
                <a:ea typeface="Open Sauce"/>
                <a:cs typeface="Open Sauce"/>
              </a:defRPr>
            </a:pPr>
            <a:r>
              <a:rPr sz="3675" b="1" spc="-296">
                <a:solidFill>
                  <a:srgbClr val="183B3A"/>
                </a:solidFill>
                <a:latin typeface="Open Sauce"/>
                <a:ea typeface="Open Sauce"/>
                <a:cs typeface="Open Sauce"/>
              </a:rPr>
              <a:t>17–18</a:t>
            </a:r>
          </a:p>
        </p:txBody>
      </p:sp>
      <p:sp>
        <p:nvSpPr>
          <p:cNvPr id="23" name="TextBox 23">
            <a:extLst xmlns:a="http://schemas.openxmlformats.org/drawingml/2006/main">
              <a:ext uri="{FF2B5EF4-FFF2-40B4-BE49-F238E27FC236}">
                <a16:creationId xmlns:a16="http://schemas.microsoft.com/office/drawing/2014/main" id="{B8D82CDC-7AB2-4BCD-9297-18FE5BE5A2FB}"/>
              </a:ext>
            </a:extLst>
          </p:cNvPr>
          <p:cNvSpPr>
            <a:spLocks xmlns:a="http://schemas.openxmlformats.org/drawingml/2006/main" noGrp="1"/>
          </p:cNvSpPr>
          <p:nvPr/>
        </p:nvSpPr>
        <p:spPr>
          <a:xfrm xmlns:a="http://schemas.openxmlformats.org/drawingml/2006/main" rot="0" flipH="0" flipV="0">
            <a:off x="4329370" y="5533955"/>
            <a:ext cx="2605978" cy="48685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972"/>
              </a:lnSpc>
              <a:buNone/>
            </a:pPr>
            <a:r>
              <a:rPr sz="1644" b="1">
                <a:solidFill>
                  <a:srgbClr val="004944"/>
                </a:solidFill>
                <a:latin typeface="Open Sauce Bold"/>
                <a:ea typeface="Open Sauce Bold"/>
                <a:cs typeface="Open Sauce Bold"/>
              </a:rPr>
              <a:t>Manipal Academy of Higher Education (MAHE)</a:t>
            </a:r>
          </a:p>
        </p:txBody>
      </p:sp>
      <p:sp>
        <p:nvSpPr>
          <p:cNvPr id="24" name="TextBox 24">
            <a:extLst xmlns:a="http://schemas.openxmlformats.org/drawingml/2006/main">
              <a:ext uri="{FF2B5EF4-FFF2-40B4-BE49-F238E27FC236}">
                <a16:creationId xmlns:a16="http://schemas.microsoft.com/office/drawing/2014/main" id="{DC509D90-F004-4931-A5FE-3B8AE3885F46}"/>
              </a:ext>
            </a:extLst>
          </p:cNvPr>
          <p:cNvSpPr>
            <a:spLocks xmlns:a="http://schemas.openxmlformats.org/drawingml/2006/main" noGrp="1"/>
          </p:cNvSpPr>
          <p:nvPr/>
        </p:nvSpPr>
        <p:spPr>
          <a:xfrm xmlns:a="http://schemas.openxmlformats.org/drawingml/2006/main" rot="0" flipH="0" flipV="0">
            <a:off x="1814034" y="5908100"/>
            <a:ext cx="1042391" cy="24342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923"/>
              </a:lnSpc>
              <a:buNone/>
            </a:pPr>
            <a:r>
              <a:rPr sz="1602" b="1">
                <a:solidFill>
                  <a:srgbClr val="004944"/>
                </a:solidFill>
                <a:latin typeface="Open Sauce Bold"/>
                <a:ea typeface="Open Sauce Bold"/>
                <a:cs typeface="Open Sauce Bold"/>
              </a:rPr>
              <a:t>OCTOBER</a:t>
            </a:r>
          </a:p>
        </p:txBody>
      </p:sp>
      <p:sp>
        <p:nvSpPr>
          <p:cNvPr id="25" name="TextBox 25">
            <a:extLst xmlns:a="http://schemas.openxmlformats.org/drawingml/2006/main">
              <a:ext uri="{FF2B5EF4-FFF2-40B4-BE49-F238E27FC236}">
                <a16:creationId xmlns:a16="http://schemas.microsoft.com/office/drawing/2014/main" id="{DCD8CE14-95CF-4525-95B6-ADF13EAD570B}"/>
              </a:ext>
            </a:extLst>
          </p:cNvPr>
          <p:cNvSpPr>
            <a:spLocks xmlns:a="http://schemas.openxmlformats.org/drawingml/2006/main" noGrp="1"/>
          </p:cNvSpPr>
          <p:nvPr/>
        </p:nvSpPr>
        <p:spPr>
          <a:xfrm xmlns:a="http://schemas.openxmlformats.org/drawingml/2006/main" rot="0" flipH="0" flipV="0">
            <a:off x="4759923" y="5175372"/>
            <a:ext cx="1722212" cy="2616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022"/>
              </a:lnSpc>
              <a:buNone/>
            </a:pPr>
            <a:r>
              <a:rPr sz="1685" b="1">
                <a:solidFill>
                  <a:srgbClr val="004944"/>
                </a:solidFill>
                <a:latin typeface="Open Sauce Bold"/>
                <a:ea typeface="Open Sauce Bold"/>
                <a:cs typeface="Open Sauce Bold"/>
              </a:rPr>
              <a:t>VENUE DETAILS</a:t>
            </a:r>
          </a:p>
        </p:txBody>
      </p:sp>
      <p:sp>
        <p:nvSpPr>
          <p:cNvPr id="26" name="TextBox 26">
            <a:extLst xmlns:a="http://schemas.openxmlformats.org/drawingml/2006/main">
              <a:ext uri="{FF2B5EF4-FFF2-40B4-BE49-F238E27FC236}">
                <a16:creationId xmlns:a16="http://schemas.microsoft.com/office/drawing/2014/main" id="{5FAB09D9-67F0-473B-8BA5-104B62103F53}"/>
              </a:ext>
            </a:extLst>
          </p:cNvPr>
          <p:cNvSpPr>
            <a:spLocks xmlns:a="http://schemas.openxmlformats.org/drawingml/2006/main" noGrp="1"/>
          </p:cNvSpPr>
          <p:nvPr/>
        </p:nvSpPr>
        <p:spPr>
          <a:xfrm xmlns:a="http://schemas.openxmlformats.org/drawingml/2006/main" rot="0" flipH="0" flipV="0">
            <a:off x="8634900" y="5415389"/>
            <a:ext cx="1223676" cy="2616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022"/>
              </a:lnSpc>
              <a:buNone/>
            </a:pPr>
            <a:r>
              <a:rPr sz="1685" b="1">
                <a:solidFill>
                  <a:srgbClr val="004944"/>
                </a:solidFill>
                <a:latin typeface="Open Sauce Bold"/>
                <a:ea typeface="Open Sauce Bold"/>
                <a:cs typeface="Open Sauce Bold"/>
              </a:rPr>
              <a:t>SATURDAY</a:t>
            </a:r>
          </a:p>
        </p:txBody>
      </p:sp>
      <p:sp>
        <p:nvSpPr>
          <p:cNvPr id="27" name="TextBox 27">
            <a:extLst xmlns:a="http://schemas.openxmlformats.org/drawingml/2006/main">
              <a:ext uri="{FF2B5EF4-FFF2-40B4-BE49-F238E27FC236}">
                <a16:creationId xmlns:a16="http://schemas.microsoft.com/office/drawing/2014/main" id="{DA32A7B0-B2C0-40AF-8EC0-E5A825B2BF62}"/>
              </a:ext>
            </a:extLst>
          </p:cNvPr>
          <p:cNvSpPr>
            <a:spLocks xmlns:a="http://schemas.openxmlformats.org/drawingml/2006/main" noGrp="1"/>
          </p:cNvSpPr>
          <p:nvPr/>
        </p:nvSpPr>
        <p:spPr>
          <a:xfrm xmlns:a="http://schemas.openxmlformats.org/drawingml/2006/main" rot="0" flipH="0" flipV="0">
            <a:off x="8091043" y="5705066"/>
            <a:ext cx="1812855" cy="2616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022"/>
              </a:lnSpc>
              <a:buNone/>
            </a:pPr>
            <a:r>
              <a:rPr sz="1685">
                <a:solidFill>
                  <a:srgbClr val="004944"/>
                </a:solidFill>
                <a:latin typeface="Open Sauce"/>
                <a:ea typeface="Open Sauce"/>
                <a:cs typeface="Open Sauce"/>
              </a:rPr>
              <a:t>09 A.M. Onwards</a:t>
            </a:r>
          </a:p>
        </p:txBody>
      </p:sp>
      <p:sp>
        <p:nvSpPr>
          <p:cNvPr id="29" name="Freeform 29">
            <a:extLst xmlns:a="http://schemas.openxmlformats.org/drawingml/2006/main">
              <a:ext uri="{FF2B5EF4-FFF2-40B4-BE49-F238E27FC236}">
                <a16:creationId xmlns:a16="http://schemas.microsoft.com/office/drawing/2014/main" id="{0375294C-3CA9-47F4-9BE7-5A0EB13D0A21}"/>
              </a:ext>
            </a:extLst>
          </p:cNvPr>
          <p:cNvSpPr>
            <a:spLocks xmlns:a="http://schemas.openxmlformats.org/drawingml/2006/main" noGrp="1"/>
          </p:cNvSpPr>
          <p:nvPr/>
        </p:nvSpPr>
        <p:spPr>
          <a:xfrm xmlns:a="http://schemas.openxmlformats.org/drawingml/2006/main" rot="0" flipH="0" flipV="0">
            <a:off x="1166813" y="8715375"/>
            <a:ext cx="14049375" cy="1085850"/>
          </a:xfrm>
          <a:custGeom xmlns:a="http://schemas.openxmlformats.org/drawingml/2006/main">
            <a:rect l="l" t="t" r="r" b="b"/>
            <a:pathLst>
              <a:path w="18732500" h="1447800">
                <a:moveTo>
                  <a:pt x="0" y="0"/>
                </a:moveTo>
                <a:lnTo>
                  <a:pt x="18732500" y="0"/>
                </a:lnTo>
                <a:lnTo>
                  <a:pt x="18732500" y="1447800"/>
                </a:lnTo>
                <a:lnTo>
                  <a:pt x="0" y="1447800"/>
                </a:lnTo>
                <a:lnTo>
                  <a:pt x="0" y="0"/>
                </a:lnTo>
                <a:close/>
              </a:path>
            </a:pathLst>
          </a:custGeom>
          <a:blipFill xmlns:a="http://schemas.openxmlformats.org/drawingml/2006/main">
            <a:blip xmlns:r="http://schemas.openxmlformats.org/officeDocument/2006/relationships" r:embed="R5e84fe5388124863"/>
            <a:stretch>
              <a:fillRect l="-542" t="-9649" r="-1084" b="-18421"/>
            </a:stretch>
          </a:blipFill>
        </p:spPr>
      </p:sp>
      <p:sp>
        <p:nvSpPr>
          <p:cNvPr id="30" name="Freeform 30">
            <a:extLst xmlns:a="http://schemas.openxmlformats.org/drawingml/2006/main">
              <a:ext uri="{FF2B5EF4-FFF2-40B4-BE49-F238E27FC236}">
                <a16:creationId xmlns:a16="http://schemas.microsoft.com/office/drawing/2014/main" id="{AEDADB3F-6B2D-4A39-B49E-34B0EBDDE348}"/>
              </a:ext>
            </a:extLst>
          </p:cNvPr>
          <p:cNvSpPr>
            <a:spLocks xmlns:a="http://schemas.openxmlformats.org/drawingml/2006/main" noGrp="1"/>
          </p:cNvSpPr>
          <p:nvPr/>
        </p:nvSpPr>
        <p:spPr>
          <a:xfrm xmlns:a="http://schemas.openxmlformats.org/drawingml/2006/main" rot="0" flipH="0" flipV="0">
            <a:off x="9362699" y="9075467"/>
            <a:ext cx="1972428" cy="431851"/>
          </a:xfrm>
          <a:custGeom xmlns:a="http://schemas.openxmlformats.org/drawingml/2006/main">
            <a:rect l="l" t="t" r="r" b="b"/>
            <a:pathLst>
              <a:path w="2629904" h="575802">
                <a:moveTo>
                  <a:pt x="0" y="0"/>
                </a:moveTo>
                <a:lnTo>
                  <a:pt x="2629904" y="0"/>
                </a:lnTo>
                <a:lnTo>
                  <a:pt x="2629904" y="575802"/>
                </a:lnTo>
                <a:lnTo>
                  <a:pt x="0" y="575802"/>
                </a:lnTo>
                <a:lnTo>
                  <a:pt x="0" y="0"/>
                </a:lnTo>
                <a:close/>
              </a:path>
            </a:pathLst>
          </a:custGeom>
          <a:blipFill xmlns:a="http://schemas.openxmlformats.org/drawingml/2006/main">
            <a:blip xmlns:r="http://schemas.openxmlformats.org/officeDocument/2006/relationships" r:embed="R5893914ed3144df6"/>
            <a:stretch>
              <a:fillRect l="0" t="0" r="0" b="0"/>
            </a:stretch>
          </a:blipFill>
        </p:spPr>
      </p:sp>
      <p:sp>
        <p:nvSpPr>
          <p:cNvPr id="31" name="TextBox 31">
            <a:extLst xmlns:a="http://schemas.openxmlformats.org/drawingml/2006/main">
              <a:ext uri="{FF2B5EF4-FFF2-40B4-BE49-F238E27FC236}">
                <a16:creationId xmlns:a16="http://schemas.microsoft.com/office/drawing/2014/main" id="{880A90D4-25B2-4330-AB6F-61E1F265C90A}"/>
              </a:ext>
            </a:extLst>
          </p:cNvPr>
          <p:cNvSpPr>
            <a:spLocks xmlns:a="http://schemas.openxmlformats.org/drawingml/2006/main" noGrp="1"/>
          </p:cNvSpPr>
          <p:nvPr/>
        </p:nvSpPr>
        <p:spPr>
          <a:xfrm xmlns:a="http://schemas.openxmlformats.org/drawingml/2006/main" rot="0" flipH="0" flipV="0">
            <a:off x="1952625" y="8953500"/>
            <a:ext cx="2286000" cy="654558"/>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ctr">
              <a:lnSpc>
                <a:spcPts val="2577"/>
              </a:lnSpc>
              <a:buNone/>
              <a:defRPr sz="1650" b="1">
                <a:solidFill>
                  <a:srgbClr val="FFFFFF"/>
                </a:solidFill>
                <a:latin typeface="Open Sauce"/>
                <a:ea typeface="Open Sauce"/>
                <a:cs typeface="Open Sauce"/>
              </a:defRPr>
            </a:pPr>
            <a:r>
              <a:rPr sz="1650" b="1">
                <a:solidFill>
                  <a:srgbClr val="FFFFFF"/>
                </a:solidFill>
                <a:latin typeface="Open Sauce"/>
                <a:ea typeface="Open Sauce"/>
                <a:cs typeface="Open Sauce"/>
              </a:rPr>
              <a:t>SELECTIVE</a:t>
            </a:r>
          </a:p>
          <a:p xmlns:a="http://schemas.openxmlformats.org/drawingml/2006/main">
            <a:pPr algn="ctr">
              <a:lnSpc>
                <a:spcPts val="2577"/>
              </a:lnSpc>
              <a:buNone/>
              <a:defRPr sz="1650" b="1">
                <a:solidFill>
                  <a:srgbClr val="FFFFFF"/>
                </a:solidFill>
                <a:latin typeface="Open Sauce"/>
                <a:ea typeface="Open Sauce"/>
                <a:cs typeface="Open Sauce"/>
              </a:defRPr>
            </a:pPr>
            <a:r>
              <a:rPr sz="1650" b="1">
                <a:solidFill>
                  <a:srgbClr val="FFFFFF"/>
                </a:solidFill>
                <a:latin typeface="Open Sauce"/>
                <a:ea typeface="Open Sauce"/>
                <a:cs typeface="Open Sauce"/>
              </a:rPr>
              <a:t>PROOFS</a:t>
            </a:r>
          </a:p>
        </p:txBody>
      </p:sp>
      <p:sp>
        <p:nvSpPr>
          <p:cNvPr id="32" name="TextBox 32">
            <a:extLst xmlns:a="http://schemas.openxmlformats.org/drawingml/2006/main">
              <a:ext uri="{FF2B5EF4-FFF2-40B4-BE49-F238E27FC236}">
                <a16:creationId xmlns:a16="http://schemas.microsoft.com/office/drawing/2014/main" id="{863BA2A2-119B-41E8-9D7F-756471920FDF}"/>
              </a:ext>
            </a:extLst>
          </p:cNvPr>
          <p:cNvSpPr>
            <a:spLocks xmlns:a="http://schemas.openxmlformats.org/drawingml/2006/main" noGrp="1"/>
          </p:cNvSpPr>
          <p:nvPr/>
        </p:nvSpPr>
        <p:spPr>
          <a:xfrm xmlns:a="http://schemas.openxmlformats.org/drawingml/2006/main" rot="0" flipH="0" flipV="0">
            <a:off x="4829175" y="8972550"/>
            <a:ext cx="4191000" cy="666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ctr">
              <a:lnSpc>
                <a:spcPts val="2434"/>
              </a:lnSpc>
              <a:buNone/>
              <a:defRPr sz="1800" b="1">
                <a:solidFill>
                  <a:srgbClr val="FFFFFF"/>
                </a:solidFill>
                <a:latin typeface="Open Sauce"/>
                <a:ea typeface="Open Sauce"/>
                <a:cs typeface="Open Sauce"/>
              </a:defRPr>
            </a:pPr>
            <a:r>
              <a:rPr sz="1800" b="1">
                <a:solidFill>
                  <a:srgbClr val="FFFFFF"/>
                </a:solidFill>
                <a:latin typeface="Open Sauce"/>
                <a:ea typeface="Open Sauce"/>
                <a:cs typeface="Open Sauce"/>
              </a:rPr>
              <a:t>github.com/legoambarish</a:t>
            </a:r>
          </a:p>
          <a:p xmlns:a="http://schemas.openxmlformats.org/drawingml/2006/main">
            <a:pPr algn="ctr">
              <a:lnSpc>
                <a:spcPts val="2434"/>
              </a:lnSpc>
              <a:buNone/>
              <a:defRPr sz="1800" b="1">
                <a:solidFill>
                  <a:srgbClr val="FFFFFF"/>
                </a:solidFill>
                <a:latin typeface="Open Sauce"/>
                <a:ea typeface="Open Sauce"/>
                <a:cs typeface="Open Sauce"/>
              </a:defRPr>
            </a:pPr>
            <a:r>
              <a:rPr sz="1800" b="1">
                <a:solidFill>
                  <a:srgbClr val="FFFFFF"/>
                </a:solidFill>
                <a:latin typeface="Open Sauce"/>
                <a:ea typeface="Open Sauce"/>
                <a:cs typeface="Open Sauce"/>
              </a:rPr>
              <a:t>/Foliolet</a:t>
            </a:r>
          </a:p>
        </p:txBody>
      </p:sp>
      <p:sp>
        <p:nvSpPr>
          <p:cNvPr id="33" name="TextBox 33">
            <a:extLst xmlns:a="http://schemas.openxmlformats.org/drawingml/2006/main">
              <a:ext uri="{FF2B5EF4-FFF2-40B4-BE49-F238E27FC236}">
                <a16:creationId xmlns:a16="http://schemas.microsoft.com/office/drawing/2014/main" id="{95921FAA-5DD2-489C-86B6-1D93EEDC9FA5}"/>
              </a:ext>
            </a:extLst>
          </p:cNvPr>
          <p:cNvSpPr>
            <a:spLocks xmlns:a="http://schemas.openxmlformats.org/drawingml/2006/main" noGrp="1"/>
          </p:cNvSpPr>
          <p:nvPr/>
        </p:nvSpPr>
        <p:spPr>
          <a:xfrm xmlns:a="http://schemas.openxmlformats.org/drawingml/2006/main" rot="0" flipH="0" flipV="0">
            <a:off x="10488822" y="8812989"/>
            <a:ext cx="1604787" cy="21907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740"/>
              </a:lnSpc>
              <a:buNone/>
            </a:pPr>
            <a:r>
              <a:rPr sz="1450" b="1">
                <a:solidFill>
                  <a:srgbClr val="FFFFFF"/>
                </a:solidFill>
                <a:latin typeface="Playfair Display Semi-Bold"/>
                <a:ea typeface="Playfair Display Semi-Bold"/>
                <a:cs typeface="Playfair Display Semi-Bold"/>
              </a:rPr>
              <a:t>ORGANIZED BY:</a:t>
            </a:r>
          </a:p>
        </p:txBody>
      </p:sp>
      <p:sp>
        <p:nvSpPr>
          <p:cNvPr id="34" name="Freeform 34">
            <a:extLst xmlns:a="http://schemas.openxmlformats.org/drawingml/2006/main">
              <a:ext uri="{FF2B5EF4-FFF2-40B4-BE49-F238E27FC236}">
                <a16:creationId xmlns:a16="http://schemas.microsoft.com/office/drawing/2014/main" id="{5C934271-AD31-4090-BBBD-4969801E5264}"/>
              </a:ext>
            </a:extLst>
          </p:cNvPr>
          <p:cNvSpPr>
            <a:spLocks xmlns:a="http://schemas.openxmlformats.org/drawingml/2006/main" noGrp="1"/>
          </p:cNvSpPr>
          <p:nvPr/>
        </p:nvSpPr>
        <p:spPr>
          <a:xfrm xmlns:a="http://schemas.openxmlformats.org/drawingml/2006/main" rot="0" flipH="0" flipV="0">
            <a:off x="12043268" y="8889546"/>
            <a:ext cx="540839" cy="737508"/>
          </a:xfrm>
          <a:custGeom xmlns:a="http://schemas.openxmlformats.org/drawingml/2006/main">
            <a:rect l="l" t="t" r="r" b="b"/>
            <a:pathLst>
              <a:path w="721119" h="983344">
                <a:moveTo>
                  <a:pt x="0" y="0"/>
                </a:moveTo>
                <a:lnTo>
                  <a:pt x="721119" y="0"/>
                </a:lnTo>
                <a:lnTo>
                  <a:pt x="721119" y="983344"/>
                </a:lnTo>
                <a:lnTo>
                  <a:pt x="0" y="983344"/>
                </a:lnTo>
                <a:lnTo>
                  <a:pt x="0" y="0"/>
                </a:lnTo>
                <a:close/>
              </a:path>
            </a:pathLst>
          </a:custGeom>
          <a:blipFill xmlns:a="http://schemas.openxmlformats.org/drawingml/2006/main">
            <a:blip xmlns:r="http://schemas.openxmlformats.org/officeDocument/2006/relationships" r:embed="R2e33f376ed7d4249"/>
            <a:stretch>
              <a:fillRect l="0" t="0" r="0" b="0"/>
            </a:stretch>
          </a:blipFill>
        </p:spPr>
      </p:sp>
      <p:sp>
        <p:nvSpPr>
          <p:cNvPr id="35" name="TextBox 35">
            <a:extLst xmlns:a="http://schemas.openxmlformats.org/drawingml/2006/main">
              <a:ext uri="{FF2B5EF4-FFF2-40B4-BE49-F238E27FC236}">
                <a16:creationId xmlns:a16="http://schemas.microsoft.com/office/drawing/2014/main" id="{E4E72A23-6D43-476B-A820-D9011DBBB21D}"/>
              </a:ext>
            </a:extLst>
          </p:cNvPr>
          <p:cNvSpPr>
            <a:spLocks xmlns:a="http://schemas.openxmlformats.org/drawingml/2006/main" noGrp="1"/>
          </p:cNvSpPr>
          <p:nvPr/>
        </p:nvSpPr>
        <p:spPr>
          <a:xfrm xmlns:a="http://schemas.openxmlformats.org/drawingml/2006/main" rot="0" flipH="0" flipV="0">
            <a:off x="12510690" y="9067125"/>
            <a:ext cx="945434" cy="25717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817"/>
              </a:lnSpc>
              <a:buNone/>
            </a:pPr>
            <a:r>
              <a:rPr sz="1514" spc="-30">
                <a:solidFill>
                  <a:srgbClr val="FFFFFF"/>
                </a:solidFill>
                <a:latin typeface="Times New Roman MT"/>
                <a:ea typeface="Times New Roman MT"/>
                <a:cs typeface="Times New Roman MT"/>
              </a:rPr>
              <a:t>MANIPAL</a:t>
            </a:r>
          </a:p>
        </p:txBody>
      </p:sp>
      <p:sp>
        <p:nvSpPr>
          <p:cNvPr id="36" name="TextBox 36">
            <a:extLst xmlns:a="http://schemas.openxmlformats.org/drawingml/2006/main">
              <a:ext uri="{FF2B5EF4-FFF2-40B4-BE49-F238E27FC236}">
                <a16:creationId xmlns:a16="http://schemas.microsoft.com/office/drawing/2014/main" id="{13847B01-E575-414D-BE82-6841D9F6A069}"/>
              </a:ext>
            </a:extLst>
          </p:cNvPr>
          <p:cNvSpPr>
            <a:spLocks xmlns:a="http://schemas.openxmlformats.org/drawingml/2006/main" noGrp="1"/>
          </p:cNvSpPr>
          <p:nvPr/>
        </p:nvSpPr>
        <p:spPr>
          <a:xfrm xmlns:a="http://schemas.openxmlformats.org/drawingml/2006/main" rot="0" flipH="0" flipV="0">
            <a:off x="12510690" y="9287528"/>
            <a:ext cx="1467261" cy="25011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lvl="1" indent="0" algn="l">
              <a:lnSpc>
                <a:spcPts val="1021"/>
              </a:lnSpc>
              <a:spcBef>
                <a:spcPct val="0"/>
              </a:spcBef>
              <a:buNone/>
            </a:pPr>
            <a:r>
              <a:rPr sz="729" u="none" spc="-14">
                <a:solidFill>
                  <a:srgbClr val="FFFFFF"/>
                </a:solidFill>
                <a:latin typeface="Times New Roman MT"/>
                <a:ea typeface="Times New Roman MT"/>
                <a:cs typeface="Times New Roman MT"/>
              </a:rPr>
              <a:t>ACADEMY OF HIGHER EDUCATION</a:t>
            </a:r>
          </a:p>
        </p:txBody>
      </p:sp>
      <p:sp>
        <p:nvSpPr>
          <p:cNvPr id="37" name="TextBox 37">
            <a:extLst xmlns:a="http://schemas.openxmlformats.org/drawingml/2006/main">
              <a:ext uri="{FF2B5EF4-FFF2-40B4-BE49-F238E27FC236}">
                <a16:creationId xmlns:a16="http://schemas.microsoft.com/office/drawing/2014/main" id="{6B6EDED4-9688-4985-A9E6-CE5122F6BDC4}"/>
              </a:ext>
            </a:extLst>
          </p:cNvPr>
          <p:cNvSpPr>
            <a:spLocks xmlns:a="http://schemas.openxmlformats.org/drawingml/2006/main" noGrp="1"/>
          </p:cNvSpPr>
          <p:nvPr/>
        </p:nvSpPr>
        <p:spPr>
          <a:xfrm xmlns:a="http://schemas.openxmlformats.org/drawingml/2006/main" rot="0" flipH="0" flipV="0">
            <a:off x="12510690" y="9521846"/>
            <a:ext cx="1467261" cy="10392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lvl="1" indent="0" algn="l">
              <a:lnSpc>
                <a:spcPts val="802"/>
              </a:lnSpc>
              <a:spcBef>
                <a:spcPct val="0"/>
              </a:spcBef>
              <a:buNone/>
            </a:pPr>
            <a:r>
              <a:rPr sz="573" i="1" u="none" spc="-11">
                <a:solidFill>
                  <a:srgbClr val="FFFFFF"/>
                </a:solidFill>
                <a:latin typeface="Times New Roman MT Italics"/>
                <a:ea typeface="Times New Roman MT Italics"/>
                <a:cs typeface="Times New Roman MT Italics"/>
              </a:rPr>
              <a:t>Institution of Embrace Diamant in the University</a:t>
            </a:r>
          </a:p>
        </p:txBody>
      </p:sp>
      <p:sp>
        <p:nvSpPr>
          <p:cNvPr id="38" name="product-promise">
            <a:extLst xmlns:a="http://schemas.openxmlformats.org/drawingml/2006/main">
              <a:ext uri="{FF2B5EF4-FFF2-40B4-BE49-F238E27FC236}">
                <a16:creationId xmlns:a16="http://schemas.microsoft.com/office/drawing/2014/main" id="{D1746F57-4479-4E95-8924-BAB6AF45D147}"/>
              </a:ext>
            </a:extLst>
          </p:cNvPr>
          <p:cNvSpPr>
            <a:spLocks xmlns:a="http://schemas.openxmlformats.org/drawingml/2006/main" noGrp="1"/>
          </p:cNvSpPr>
          <p:nvPr/>
        </p:nvSpPr>
        <p:spPr>
          <a:xfrm xmlns:a="http://schemas.openxmlformats.org/drawingml/2006/main">
            <a:off x="1581150" y="6543675"/>
            <a:ext cx="1171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83B3A"/>
                </a:solidFill>
                <a:latin typeface="Open Sauce"/>
                <a:ea typeface="Open Sauce"/>
                <a:cs typeface="Open Sauce"/>
              </a:defRPr>
            </a:pPr>
            <a:r>
              <a:rPr sz="4050" b="1">
                <a:solidFill>
                  <a:srgbClr val="183B3A"/>
                </a:solidFill>
                <a:latin typeface="Open Sauce"/>
                <a:ea typeface="Open Sauce"/>
                <a:cs typeface="Open Sauce"/>
              </a:rPr>
              <a:t>Share the fact, not the file.</a:t>
            </a:r>
          </a:p>
        </p:txBody>
      </p:sp>
      <p:sp>
        <p:nvSpPr>
          <p:cNvPr id="39" name="cover-descriptor">
            <a:extLst xmlns:a="http://schemas.openxmlformats.org/drawingml/2006/main">
              <a:ext uri="{FF2B5EF4-FFF2-40B4-BE49-F238E27FC236}">
                <a16:creationId xmlns:a16="http://schemas.microsoft.com/office/drawing/2014/main" id="{41A0A3F9-75EB-4516-9B2C-6598F0BE9342}"/>
              </a:ext>
            </a:extLst>
          </p:cNvPr>
          <p:cNvSpPr>
            <a:spLocks xmlns:a="http://schemas.openxmlformats.org/drawingml/2006/main" noGrp="1"/>
          </p:cNvSpPr>
          <p:nvPr/>
        </p:nvSpPr>
        <p:spPr>
          <a:xfrm xmlns:a="http://schemas.openxmlformats.org/drawingml/2006/main">
            <a:off x="1581150" y="7362825"/>
            <a:ext cx="1200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B3A"/>
                </a:solidFill>
                <a:latin typeface="Open Sauce"/>
                <a:ea typeface="Open Sauce"/>
                <a:cs typeface="Open Sauce"/>
              </a:defRPr>
            </a:pPr>
            <a:r>
              <a:rPr sz="2400" b="0">
                <a:solidFill>
                  <a:srgbClr val="183B3A"/>
                </a:solidFill>
                <a:latin typeface="Open Sauce"/>
                <a:ea typeface="Open Sauce"/>
                <a:cs typeface="Open Sauce"/>
              </a:rPr>
              <a:t>Private documents. Selective, verifiable statements.</a:t>
            </a:r>
          </a:p>
        </p:txBody>
      </p:sp>
      <p:sp>
        <p:nvSpPr>
          <p:cNvPr id="40" name="presenter">
            <a:extLst xmlns:a="http://schemas.openxmlformats.org/drawingml/2006/main">
              <a:ext uri="{FF2B5EF4-FFF2-40B4-BE49-F238E27FC236}">
                <a16:creationId xmlns:a16="http://schemas.microsoft.com/office/drawing/2014/main" id="{0C664F64-9E8B-4C8E-822C-05E9811E8941}"/>
              </a:ext>
            </a:extLst>
          </p:cNvPr>
          <p:cNvSpPr>
            <a:spLocks xmlns:a="http://schemas.openxmlformats.org/drawingml/2006/main" noGrp="1"/>
          </p:cNvSpPr>
          <p:nvPr/>
        </p:nvSpPr>
        <p:spPr>
          <a:xfrm xmlns:a="http://schemas.openxmlformats.org/drawingml/2006/main">
            <a:off x="1581150" y="8039100"/>
            <a:ext cx="1257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3B3A"/>
                </a:solidFill>
                <a:latin typeface="Open Sauce"/>
                <a:ea typeface="Open Sauce"/>
                <a:cs typeface="Open Sauce"/>
              </a:defRPr>
            </a:pPr>
            <a:r>
              <a:rPr sz="1950" b="0">
                <a:solidFill>
                  <a:srgbClr val="183B3A"/>
                </a:solidFill>
                <a:latin typeface="Open Sauce"/>
                <a:ea typeface="Open Sauce"/>
                <a:cs typeface="Open Sauce"/>
              </a:rPr>
              <a:t>Ambarish Pillai  ·  Team Foliolet  ·  Problem statement PS32</a:t>
            </a:r>
          </a:p>
        </p:txBody>
      </p:sp>
    </p:spTree>
    <p:extLst>
      <p:ext uri="{BB962C8B-B14F-4D97-AF65-F5344CB8AC3E}">
        <p14:creationId xmlns:p14="http://schemas.microsoft.com/office/powerpoint/2010/main" val="158751399"/>
      </p:ext>
    </p:extLst>
  </p:cSld>
</p:sld>
</file>

<file path=ppt/slides/slide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1F5906A5-54D8-44CA-9507-3F9C58768B75}"/>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60a4813e1c74409"/>
            <a:stretch>
              <a:fillRect l="-7181" t="-19076" r="-3000" b="-11427"/>
            </a:stretch>
          </a:blipFill>
        </p:spPr>
      </p:sp>
      <p:sp>
        <p:nvSpPr>
          <p:cNvPr id="3" name="section-title">
            <a:extLst xmlns:a="http://schemas.openxmlformats.org/drawingml/2006/main">
              <a:ext uri="{FF2B5EF4-FFF2-40B4-BE49-F238E27FC236}">
                <a16:creationId xmlns:a16="http://schemas.microsoft.com/office/drawing/2014/main" id="{086F6D03-6878-4578-AA9B-53B992E58C36}"/>
              </a:ext>
            </a:extLst>
          </p:cNvPr>
          <p:cNvSpPr>
            <a:spLocks xmlns:a="http://schemas.openxmlformats.org/drawingml/2006/main" noGrp="1"/>
          </p:cNvSpPr>
          <p:nvPr/>
        </p:nvSpPr>
        <p:spPr>
          <a:xfrm xmlns:a="http://schemas.openxmlformats.org/drawingml/2006/main">
            <a:off x="1028700" y="723900"/>
            <a:ext cx="16049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75" b="0">
                <a:solidFill>
                  <a:srgbClr val="183B3A"/>
                </a:solidFill>
                <a:latin typeface="Times New Roman MT Condensed"/>
                <a:ea typeface="Times New Roman MT Condensed"/>
                <a:cs typeface="Times New Roman MT Condensed"/>
              </a:defRPr>
            </a:pPr>
            <a:r>
              <a:rPr sz="7875" b="0">
                <a:solidFill>
                  <a:srgbClr val="183B3A"/>
                </a:solidFill>
                <a:latin typeface="Times New Roman MT Condensed"/>
                <a:ea typeface="Times New Roman MT Condensed"/>
                <a:cs typeface="Times New Roman MT Condensed"/>
              </a:rPr>
              <a:t>Solution</a:t>
            </a:r>
          </a:p>
        </p:txBody>
      </p:sp>
      <p:sp>
        <p:nvSpPr>
          <p:cNvPr id="4" name="header-rule">
            <a:extLst xmlns:a="http://schemas.openxmlformats.org/drawingml/2006/main">
              <a:ext uri="{FF2B5EF4-FFF2-40B4-BE49-F238E27FC236}">
                <a16:creationId xmlns:a16="http://schemas.microsoft.com/office/drawing/2014/main" id="{7DEF121D-E5A8-4966-A2B1-B5C6DFF40262}"/>
              </a:ext>
            </a:extLst>
          </p:cNvPr>
          <p:cNvSpPr>
            <a:spLocks xmlns:a="http://schemas.openxmlformats.org/drawingml/2006/main" noGrp="1"/>
          </p:cNvSpPr>
          <p:nvPr/>
        </p:nvSpPr>
        <p:spPr>
          <a:xfrm xmlns:a="http://schemas.openxmlformats.org/drawingml/2006/main">
            <a:off x="1028700" y="2419350"/>
            <a:ext cx="16230600" cy="0"/>
          </a:xfrm>
          <a:prstGeom xmlns:a="http://schemas.openxmlformats.org/drawingml/2006/main" prst="line">
            <a:avLst/>
          </a:prstGeom>
          <a:ln xmlns:a="http://schemas.openxmlformats.org/drawingml/2006/main" w="28575">
            <a:solidFill>
              <a:srgbClr val="086F68"/>
            </a:solidFill>
          </a:ln>
        </p:spPr>
      </p:sp>
      <p:sp>
        <p:nvSpPr>
          <p:cNvPr id="5" name="footer">
            <a:extLst xmlns:a="http://schemas.openxmlformats.org/drawingml/2006/main">
              <a:ext uri="{FF2B5EF4-FFF2-40B4-BE49-F238E27FC236}">
                <a16:creationId xmlns:a16="http://schemas.microsoft.com/office/drawing/2014/main" id="{57703361-2F07-4BD9-96DB-509EB0A4ADE9}"/>
              </a:ext>
            </a:extLst>
          </p:cNvPr>
          <p:cNvSpPr>
            <a:spLocks xmlns:a="http://schemas.openxmlformats.org/drawingml/2006/main" noGrp="1"/>
          </p:cNvSpPr>
          <p:nvPr/>
        </p:nvSpPr>
        <p:spPr>
          <a:xfrm xmlns:a="http://schemas.openxmlformats.org/drawingml/2006/main">
            <a:off x="1028700" y="9734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67"/>
                </a:solidFill>
                <a:latin typeface="Open Sauce"/>
                <a:ea typeface="Open Sauce"/>
                <a:cs typeface="Open Sauce"/>
              </a:defRPr>
            </a:pPr>
            <a:r>
              <a:rPr sz="1650" b="0">
                <a:solidFill>
                  <a:srgbClr val="526767"/>
                </a:solidFill>
                <a:latin typeface="Open Sauce"/>
                <a:ea typeface="Open Sauce"/>
                <a:cs typeface="Open Sauce"/>
              </a:rPr>
              <a:t>Foliolet  /  HackSprint PS32</a:t>
            </a:r>
          </a:p>
        </p:txBody>
      </p:sp>
      <p:sp>
        <p:nvSpPr>
          <p:cNvPr id="6" name="page">
            <a:extLst xmlns:a="http://schemas.openxmlformats.org/drawingml/2006/main">
              <a:ext uri="{FF2B5EF4-FFF2-40B4-BE49-F238E27FC236}">
                <a16:creationId xmlns:a16="http://schemas.microsoft.com/office/drawing/2014/main" id="{B62F08F6-FC61-4325-BBAD-6BDFC9234335}"/>
              </a:ext>
            </a:extLst>
          </p:cNvPr>
          <p:cNvSpPr>
            <a:spLocks xmlns:a="http://schemas.openxmlformats.org/drawingml/2006/main" noGrp="1"/>
          </p:cNvSpPr>
          <p:nvPr/>
        </p:nvSpPr>
        <p:spPr>
          <a:xfrm xmlns:a="http://schemas.openxmlformats.org/drawingml/2006/main">
            <a:off x="16459200" y="973455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26767"/>
                </a:solidFill>
                <a:latin typeface="Open Sauce"/>
                <a:ea typeface="Open Sauce"/>
                <a:cs typeface="Open Sauce"/>
              </a:defRPr>
            </a:pPr>
            <a:r>
              <a:rPr sz="1650" b="0">
                <a:solidFill>
                  <a:srgbClr val="526767"/>
                </a:solidFill>
                <a:latin typeface="Open Sauce"/>
                <a:ea typeface="Open Sauce"/>
                <a:cs typeface="Open Sauce"/>
              </a:rPr>
              <a:t>02</a:t>
            </a:r>
          </a:p>
        </p:txBody>
      </p:sp>
      <p:sp>
        <p:nvSpPr>
          <p:cNvPr id="7" name="need">
            <a:extLst xmlns:a="http://schemas.openxmlformats.org/drawingml/2006/main">
              <a:ext uri="{FF2B5EF4-FFF2-40B4-BE49-F238E27FC236}">
                <a16:creationId xmlns:a16="http://schemas.microsoft.com/office/drawing/2014/main" id="{EA2BB388-DDFA-4282-9599-04A9CF4F511A}"/>
              </a:ext>
            </a:extLst>
          </p:cNvPr>
          <p:cNvSpPr>
            <a:spLocks xmlns:a="http://schemas.openxmlformats.org/drawingml/2006/main" noGrp="1"/>
          </p:cNvSpPr>
          <p:nvPr/>
        </p:nvSpPr>
        <p:spPr>
          <a:xfrm xmlns:a="http://schemas.openxmlformats.org/drawingml/2006/main">
            <a:off x="1028700" y="2876550"/>
            <a:ext cx="1619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B3A"/>
                </a:solidFill>
                <a:latin typeface="Open Sauce"/>
                <a:ea typeface="Open Sauce"/>
                <a:cs typeface="Open Sauce"/>
              </a:defRPr>
            </a:pPr>
            <a:r>
              <a:rPr sz="3900" b="1">
                <a:solidFill>
                  <a:srgbClr val="183B3A"/>
                </a:solidFill>
                <a:latin typeface="Open Sauce"/>
                <a:ea typeface="Open Sauce"/>
                <a:cs typeface="Open Sauce"/>
              </a:rPr>
              <a:t>A verifier needs an answer, not your entire marksheet.</a:t>
            </a:r>
          </a:p>
        </p:txBody>
      </p:sp>
      <p:sp>
        <p:nvSpPr>
          <p:cNvPr id="8" name="marksheet">
            <a:extLst xmlns:a="http://schemas.openxmlformats.org/drawingml/2006/main">
              <a:ext uri="{FF2B5EF4-FFF2-40B4-BE49-F238E27FC236}">
                <a16:creationId xmlns:a16="http://schemas.microsoft.com/office/drawing/2014/main" id="{BBFBC7B3-6D55-464E-921C-608CD70374B2}"/>
              </a:ext>
            </a:extLst>
          </p:cNvPr>
          <p:cNvSpPr>
            <a:spLocks xmlns:a="http://schemas.openxmlformats.org/drawingml/2006/main" noGrp="1"/>
          </p:cNvSpPr>
          <p:nvPr/>
        </p:nvSpPr>
        <p:spPr>
          <a:xfrm xmlns:a="http://schemas.openxmlformats.org/drawingml/2006/main">
            <a:off x="1028700" y="4162425"/>
            <a:ext cx="6191250" cy="3733800"/>
          </a:xfrm>
          <a:prstGeom xmlns:a="http://schemas.openxmlformats.org/drawingml/2006/main" prst="rect">
            <a:avLst/>
          </a:prstGeom>
          <a:solidFill xmlns:a="http://schemas.openxmlformats.org/drawingml/2006/main">
            <a:srgbClr val="FAF9F5"/>
          </a:solidFill>
          <a:ln xmlns:a="http://schemas.openxmlformats.org/drawingml/2006/main" w="19050">
            <a:solidFill>
              <a:srgbClr val="A8BFBA"/>
            </a:solidFill>
            <a:prstDash val="solid"/>
          </a:ln>
        </p:spPr>
      </p:sp>
      <p:sp>
        <p:nvSpPr>
          <p:cNvPr id="9" name="document-label">
            <a:extLst xmlns:a="http://schemas.openxmlformats.org/drawingml/2006/main">
              <a:ext uri="{FF2B5EF4-FFF2-40B4-BE49-F238E27FC236}">
                <a16:creationId xmlns:a16="http://schemas.microsoft.com/office/drawing/2014/main" id="{EDFBB2B3-2DA2-42B8-89DE-AE7614BE7F01}"/>
              </a:ext>
            </a:extLst>
          </p:cNvPr>
          <p:cNvSpPr>
            <a:spLocks xmlns:a="http://schemas.openxmlformats.org/drawingml/2006/main" noGrp="1"/>
          </p:cNvSpPr>
          <p:nvPr/>
        </p:nvSpPr>
        <p:spPr>
          <a:xfrm xmlns:a="http://schemas.openxmlformats.org/drawingml/2006/main">
            <a:off x="1409700" y="44767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26767"/>
                </a:solidFill>
                <a:latin typeface="Open Sauce"/>
                <a:ea typeface="Open Sauce"/>
                <a:cs typeface="Open Sauce"/>
              </a:defRPr>
            </a:pPr>
            <a:r>
              <a:rPr sz="2175" b="1">
                <a:solidFill>
                  <a:srgbClr val="526767"/>
                </a:solidFill>
                <a:latin typeface="Open Sauce"/>
                <a:ea typeface="Open Sauce"/>
                <a:cs typeface="Open Sauce"/>
              </a:rPr>
              <a:t>MARKSHEET</a:t>
            </a:r>
          </a:p>
        </p:txBody>
      </p:sp>
      <p:sp>
        <p:nvSpPr>
          <p:cNvPr id="10" name="private-facts">
            <a:extLst xmlns:a="http://schemas.openxmlformats.org/drawingml/2006/main">
              <a:ext uri="{FF2B5EF4-FFF2-40B4-BE49-F238E27FC236}">
                <a16:creationId xmlns:a16="http://schemas.microsoft.com/office/drawing/2014/main" id="{9830E539-DA55-4419-B2B5-7B6AEADEDD88}"/>
              </a:ext>
            </a:extLst>
          </p:cNvPr>
          <p:cNvSpPr>
            <a:spLocks xmlns:a="http://schemas.openxmlformats.org/drawingml/2006/main" noGrp="1"/>
          </p:cNvSpPr>
          <p:nvPr/>
        </p:nvSpPr>
        <p:spPr>
          <a:xfrm xmlns:a="http://schemas.openxmlformats.org/drawingml/2006/main">
            <a:off x="1409700" y="5286375"/>
            <a:ext cx="52863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B3A"/>
                </a:solidFill>
                <a:latin typeface="Open Sauce"/>
                <a:ea typeface="Open Sauce"/>
                <a:cs typeface="Open Sauce"/>
              </a:defRPr>
            </a:pPr>
            <a:r>
              <a:rPr sz="2925" b="0">
                <a:solidFill>
                  <a:srgbClr val="183B3A"/>
                </a:solidFill>
                <a:latin typeface="Open Sauce"/>
                <a:ea typeface="Open Sauce"/>
                <a:cs typeface="Open Sauce"/>
              </a:rPr>
              <a:t>Exact CGPA  9.17</a:t>
            </a:r>
          </a:p>
          <a:p xmlns:a="http://schemas.openxmlformats.org/drawingml/2006/main">
            <a:pPr algn="l">
              <a:defRPr sz="2925" b="0">
                <a:solidFill>
                  <a:srgbClr val="183B3A"/>
                </a:solidFill>
                <a:latin typeface="Open Sauce"/>
                <a:ea typeface="Open Sauce"/>
                <a:cs typeface="Open Sauce"/>
              </a:defRPr>
            </a:pPr>
            <a:r>
              <a:rPr sz="2925" b="0">
                <a:solidFill>
                  <a:srgbClr val="183B3A"/>
                </a:solidFill>
                <a:latin typeface="Open Sauce"/>
                <a:ea typeface="Open Sauce"/>
                <a:cs typeface="Open Sauce"/>
              </a:rPr>
              <a:t>Name · date of birth</a:t>
            </a:r>
          </a:p>
          <a:p xmlns:a="http://schemas.openxmlformats.org/drawingml/2006/main">
            <a:pPr algn="l">
              <a:defRPr sz="2925" b="0">
                <a:solidFill>
                  <a:srgbClr val="183B3A"/>
                </a:solidFill>
                <a:latin typeface="Open Sauce"/>
                <a:ea typeface="Open Sauce"/>
                <a:cs typeface="Open Sauce"/>
              </a:defRPr>
            </a:pPr>
            <a:r>
              <a:rPr sz="2925" b="0">
                <a:solidFill>
                  <a:srgbClr val="183B3A"/>
                </a:solidFill>
                <a:latin typeface="Open Sauce"/>
                <a:ea typeface="Open Sauce"/>
                <a:cs typeface="Open Sauce"/>
              </a:rPr>
              <a:t>Institution · course</a:t>
            </a:r>
          </a:p>
        </p:txBody>
      </p:sp>
      <p:sp>
        <p:nvSpPr>
          <p:cNvPr id="11" name="private-store">
            <a:extLst xmlns:a="http://schemas.openxmlformats.org/drawingml/2006/main">
              <a:ext uri="{FF2B5EF4-FFF2-40B4-BE49-F238E27FC236}">
                <a16:creationId xmlns:a16="http://schemas.microsoft.com/office/drawing/2014/main" id="{CDD45B1F-C2E9-4270-88EB-8F6F1AC54064}"/>
              </a:ext>
            </a:extLst>
          </p:cNvPr>
          <p:cNvSpPr>
            <a:spLocks xmlns:a="http://schemas.openxmlformats.org/drawingml/2006/main" noGrp="1"/>
          </p:cNvSpPr>
          <p:nvPr/>
        </p:nvSpPr>
        <p:spPr>
          <a:xfrm xmlns:a="http://schemas.openxmlformats.org/drawingml/2006/main">
            <a:off x="1409700" y="721042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767"/>
                </a:solidFill>
                <a:latin typeface="Open Sauce"/>
                <a:ea typeface="Open Sauce"/>
                <a:cs typeface="Open Sauce"/>
              </a:defRPr>
            </a:pPr>
            <a:r>
              <a:rPr sz="2025" b="0">
                <a:solidFill>
                  <a:srgbClr val="526767"/>
                </a:solidFill>
                <a:latin typeface="Open Sauce"/>
                <a:ea typeface="Open Sauce"/>
                <a:cs typeface="Open Sauce"/>
              </a:rPr>
              <a:t>Original retained in the encrypted custodial vault</a:t>
            </a:r>
          </a:p>
        </p:txBody>
      </p:sp>
      <p:sp>
        <p:nvSpPr>
          <p:cNvPr id="12" name="selected-proof">
            <a:extLst xmlns:a="http://schemas.openxmlformats.org/drawingml/2006/main">
              <a:ext uri="{FF2B5EF4-FFF2-40B4-BE49-F238E27FC236}">
                <a16:creationId xmlns:a16="http://schemas.microsoft.com/office/drawing/2014/main" id="{12A5FF72-8DC3-4D23-93EF-FB403763C86E}"/>
              </a:ext>
            </a:extLst>
          </p:cNvPr>
          <p:cNvSpPr>
            <a:spLocks xmlns:a="http://schemas.openxmlformats.org/drawingml/2006/main" noGrp="1"/>
          </p:cNvSpPr>
          <p:nvPr/>
        </p:nvSpPr>
        <p:spPr>
          <a:xfrm xmlns:a="http://schemas.openxmlformats.org/drawingml/2006/main">
            <a:off x="10829925" y="4162425"/>
            <a:ext cx="6429375" cy="3733800"/>
          </a:xfrm>
          <a:prstGeom xmlns:a="http://schemas.openxmlformats.org/drawingml/2006/main" prst="rect">
            <a:avLst/>
          </a:prstGeom>
          <a:solidFill xmlns:a="http://schemas.openxmlformats.org/drawingml/2006/main">
            <a:srgbClr val="E6F0EC"/>
          </a:solidFill>
          <a:ln xmlns:a="http://schemas.openxmlformats.org/drawingml/2006/main" w="19050">
            <a:solidFill>
              <a:srgbClr val="086F68"/>
            </a:solidFill>
            <a:prstDash val="solid"/>
          </a:ln>
        </p:spPr>
      </p:sp>
      <p:sp>
        <p:nvSpPr>
          <p:cNvPr id="13" name="proof-label">
            <a:extLst xmlns:a="http://schemas.openxmlformats.org/drawingml/2006/main">
              <a:ext uri="{FF2B5EF4-FFF2-40B4-BE49-F238E27FC236}">
                <a16:creationId xmlns:a16="http://schemas.microsoft.com/office/drawing/2014/main" id="{F8D7B30A-4CDE-4B3A-B6E0-09ED636A02CF}"/>
              </a:ext>
            </a:extLst>
          </p:cNvPr>
          <p:cNvSpPr>
            <a:spLocks xmlns:a="http://schemas.openxmlformats.org/drawingml/2006/main" noGrp="1"/>
          </p:cNvSpPr>
          <p:nvPr/>
        </p:nvSpPr>
        <p:spPr>
          <a:xfrm xmlns:a="http://schemas.openxmlformats.org/drawingml/2006/main">
            <a:off x="11210925" y="4476750"/>
            <a:ext cx="528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6F68"/>
                </a:solidFill>
                <a:latin typeface="Open Sauce"/>
                <a:ea typeface="Open Sauce"/>
                <a:cs typeface="Open Sauce"/>
              </a:defRPr>
            </a:pPr>
            <a:r>
              <a:rPr sz="2175" b="1">
                <a:solidFill>
                  <a:srgbClr val="086F68"/>
                </a:solidFill>
                <a:latin typeface="Open Sauce"/>
                <a:ea typeface="Open Sauce"/>
                <a:cs typeface="Open Sauce"/>
              </a:rPr>
              <a:t>ONE SELECTED FACT</a:t>
            </a:r>
          </a:p>
        </p:txBody>
      </p:sp>
      <p:sp>
        <p:nvSpPr>
          <p:cNvPr id="14" name="boolean">
            <a:extLst xmlns:a="http://schemas.openxmlformats.org/drawingml/2006/main">
              <a:ext uri="{FF2B5EF4-FFF2-40B4-BE49-F238E27FC236}">
                <a16:creationId xmlns:a16="http://schemas.microsoft.com/office/drawing/2014/main" id="{FBC81FC2-590F-4CB6-B469-C66D8793D079}"/>
              </a:ext>
            </a:extLst>
          </p:cNvPr>
          <p:cNvSpPr>
            <a:spLocks xmlns:a="http://schemas.openxmlformats.org/drawingml/2006/main" noGrp="1"/>
          </p:cNvSpPr>
          <p:nvPr/>
        </p:nvSpPr>
        <p:spPr>
          <a:xfrm xmlns:a="http://schemas.openxmlformats.org/drawingml/2006/main">
            <a:off x="11210925" y="5191125"/>
            <a:ext cx="5429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75" b="1">
                <a:solidFill>
                  <a:srgbClr val="183B3A"/>
                </a:solidFill>
                <a:latin typeface="Open Sauce"/>
                <a:ea typeface="Open Sauce"/>
                <a:cs typeface="Open Sauce"/>
              </a:defRPr>
            </a:pPr>
            <a:r>
              <a:rPr sz="4875" b="1">
                <a:solidFill>
                  <a:srgbClr val="183B3A"/>
                </a:solidFill>
                <a:latin typeface="Open Sauce"/>
                <a:ea typeface="Open Sauce"/>
                <a:cs typeface="Open Sauce"/>
              </a:rPr>
              <a:t>CGPA ≥ 8.5</a:t>
            </a:r>
          </a:p>
          <a:p xmlns:a="http://schemas.openxmlformats.org/drawingml/2006/main">
            <a:pPr algn="l">
              <a:defRPr sz="4875" b="1">
                <a:solidFill>
                  <a:srgbClr val="183B3A"/>
                </a:solidFill>
                <a:latin typeface="Open Sauce"/>
                <a:ea typeface="Open Sauce"/>
                <a:cs typeface="Open Sauce"/>
              </a:defRPr>
            </a:pPr>
            <a:r>
              <a:rPr sz="4875" b="1">
                <a:solidFill>
                  <a:srgbClr val="183B3A"/>
                </a:solidFill>
                <a:latin typeface="Open Sauce"/>
                <a:ea typeface="Open Sauce"/>
                <a:cs typeface="Open Sauce"/>
              </a:rPr>
              <a:t>true</a:t>
            </a:r>
          </a:p>
        </p:txBody>
      </p:sp>
      <p:sp>
        <p:nvSpPr>
          <p:cNvPr id="15" name="proof-context">
            <a:extLst xmlns:a="http://schemas.openxmlformats.org/drawingml/2006/main">
              <a:ext uri="{FF2B5EF4-FFF2-40B4-BE49-F238E27FC236}">
                <a16:creationId xmlns:a16="http://schemas.microsoft.com/office/drawing/2014/main" id="{CEEDF8AA-2B86-4748-B226-2CC03DB356E4}"/>
              </a:ext>
            </a:extLst>
          </p:cNvPr>
          <p:cNvSpPr>
            <a:spLocks xmlns:a="http://schemas.openxmlformats.org/drawingml/2006/main" noGrp="1"/>
          </p:cNvSpPr>
          <p:nvPr/>
        </p:nvSpPr>
        <p:spPr>
          <a:xfrm xmlns:a="http://schemas.openxmlformats.org/drawingml/2006/main">
            <a:off x="11210925" y="7000875"/>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B3A"/>
                </a:solidFill>
                <a:latin typeface="Open Sauce"/>
                <a:ea typeface="Open Sauce"/>
                <a:cs typeface="Open Sauce"/>
              </a:defRPr>
            </a:pPr>
            <a:r>
              <a:rPr sz="2100" b="0">
                <a:solidFill>
                  <a:srgbClr val="183B3A"/>
                </a:solidFill>
                <a:latin typeface="Open Sauce"/>
                <a:ea typeface="Open Sauce"/>
                <a:cs typeface="Open Sauce"/>
              </a:rPr>
              <a:t>Membership proof + signed context</a:t>
            </a:r>
          </a:p>
          <a:p xmlns:a="http://schemas.openxmlformats.org/drawingml/2006/main">
            <a:pPr algn="l">
              <a:defRPr sz="2100" b="0">
                <a:solidFill>
                  <a:srgbClr val="183B3A"/>
                </a:solidFill>
                <a:latin typeface="Open Sauce"/>
                <a:ea typeface="Open Sauce"/>
                <a:cs typeface="Open Sauce"/>
              </a:defRPr>
            </a:pPr>
            <a:r>
              <a:rPr sz="2100" b="0">
                <a:solidFill>
                  <a:srgbClr val="183B3A"/>
                </a:solidFill>
                <a:latin typeface="Open Sauce"/>
                <a:ea typeface="Open Sauce"/>
                <a:cs typeface="Open Sauce"/>
              </a:rPr>
              <a:t>Checked against pinned on-chain state</a:t>
            </a:r>
          </a:p>
        </p:txBody>
      </p:sp>
      <p:sp>
        <p:nvSpPr>
          <p:cNvPr id="16" name="flow-1-14">
            <a:extLst xmlns:a="http://schemas.openxmlformats.org/drawingml/2006/main">
              <a:ext uri="{FF2B5EF4-FFF2-40B4-BE49-F238E27FC236}">
                <a16:creationId xmlns:a16="http://schemas.microsoft.com/office/drawing/2014/main" id="{21AD2DBA-F497-4A85-AC07-484F169660FD}"/>
              </a:ext>
            </a:extLst>
          </p:cNvPr>
          <p:cNvSpPr>
            <a:spLocks xmlns:a="http://schemas.openxmlformats.org/drawingml/2006/main" noGrp="1"/>
          </p:cNvSpPr>
          <p:nvPr/>
        </p:nvSpPr>
        <p:spPr>
          <a:xfrm xmlns:a="http://schemas.openxmlformats.org/drawingml/2006/main">
            <a:off x="7286625" y="5943600"/>
            <a:ext cx="3476625" cy="171450"/>
          </a:xfrm>
          <a:prstGeom xmlns:a="http://schemas.openxmlformats.org/drawingml/2006/main" prst="rightArrow">
            <a:avLst/>
          </a:prstGeom>
          <a:solidFill xmlns:a="http://schemas.openxmlformats.org/drawingml/2006/main">
            <a:srgbClr val="086F68"/>
          </a:solidFill>
          <a:ln xmlns:a="http://schemas.openxmlformats.org/drawingml/2006/main" w="0">
            <a:noFill/>
          </a:ln>
        </p:spPr>
      </p:sp>
      <p:sp>
        <p:nvSpPr>
          <p:cNvPr id="17" name="selection-label">
            <a:extLst xmlns:a="http://schemas.openxmlformats.org/drawingml/2006/main">
              <a:ext uri="{FF2B5EF4-FFF2-40B4-BE49-F238E27FC236}">
                <a16:creationId xmlns:a16="http://schemas.microsoft.com/office/drawing/2014/main" id="{8CF4A275-C5DF-4B69-88ED-924ECFB26E39}"/>
              </a:ext>
            </a:extLst>
          </p:cNvPr>
          <p:cNvSpPr>
            <a:spLocks xmlns:a="http://schemas.openxmlformats.org/drawingml/2006/main" noGrp="1"/>
          </p:cNvSpPr>
          <p:nvPr/>
        </p:nvSpPr>
        <p:spPr>
          <a:xfrm xmlns:a="http://schemas.openxmlformats.org/drawingml/2006/main">
            <a:off x="7581900" y="4495800"/>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Holder reviews</a:t>
            </a:r>
          </a:p>
          <a:p xmlns:a="http://schemas.openxmlformats.org/drawingml/2006/main">
            <a:pPr algn="ctr">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and selects</a:t>
            </a:r>
          </a:p>
        </p:txBody>
      </p:sp>
      <p:sp>
        <p:nvSpPr>
          <p:cNvPr id="18" name="precision">
            <a:extLst xmlns:a="http://schemas.openxmlformats.org/drawingml/2006/main">
              <a:ext uri="{FF2B5EF4-FFF2-40B4-BE49-F238E27FC236}">
                <a16:creationId xmlns:a16="http://schemas.microsoft.com/office/drawing/2014/main" id="{C90DE5D0-EF0C-4D07-B7F5-164CF8F76070}"/>
              </a:ext>
            </a:extLst>
          </p:cNvPr>
          <p:cNvSpPr>
            <a:spLocks xmlns:a="http://schemas.openxmlformats.org/drawingml/2006/main" noGrp="1"/>
          </p:cNvSpPr>
          <p:nvPr/>
        </p:nvSpPr>
        <p:spPr>
          <a:xfrm xmlns:a="http://schemas.openxmlformats.org/drawingml/2006/main">
            <a:off x="1028700" y="8382000"/>
            <a:ext cx="1619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B3A"/>
                </a:solidFill>
                <a:latin typeface="Open Sauce"/>
                <a:ea typeface="Open Sauce"/>
                <a:cs typeface="Open Sauce"/>
              </a:defRPr>
            </a:pPr>
            <a:r>
              <a:rPr sz="2700" b="1">
                <a:solidFill>
                  <a:srgbClr val="183B3A"/>
                </a:solidFill>
                <a:latin typeface="Open Sauce"/>
                <a:ea typeface="Open Sauce"/>
                <a:cs typeface="Open Sauce"/>
              </a:rPr>
              <a:t>Other values and salts are absent from a genuine selective bundle.</a:t>
            </a:r>
          </a:p>
        </p:txBody>
      </p:sp>
      <p:sp>
        <p:nvSpPr>
          <p:cNvPr id="19" name="threshold-boundary">
            <a:extLst xmlns:a="http://schemas.openxmlformats.org/drawingml/2006/main">
              <a:ext uri="{FF2B5EF4-FFF2-40B4-BE49-F238E27FC236}">
                <a16:creationId xmlns:a16="http://schemas.microsoft.com/office/drawing/2014/main" id="{E61F051E-9293-448A-8F73-0E6FEE01EB41}"/>
              </a:ext>
            </a:extLst>
          </p:cNvPr>
          <p:cNvSpPr>
            <a:spLocks xmlns:a="http://schemas.openxmlformats.org/drawingml/2006/main" noGrp="1"/>
          </p:cNvSpPr>
          <p:nvPr/>
        </p:nvSpPr>
        <p:spPr>
          <a:xfrm xmlns:a="http://schemas.openxmlformats.org/drawingml/2006/main">
            <a:off x="1028700" y="9020175"/>
            <a:ext cx="1619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767"/>
                </a:solidFill>
                <a:latin typeface="Open Sauce"/>
                <a:ea typeface="Open Sauce"/>
                <a:cs typeface="Open Sauce"/>
              </a:defRPr>
            </a:pPr>
            <a:r>
              <a:rPr sz="2025" b="0">
                <a:solidFill>
                  <a:srgbClr val="526767"/>
                </a:solidFill>
                <a:latin typeface="Open Sauce"/>
                <a:ea typeface="Open Sauce"/>
                <a:cs typeface="Open Sauce"/>
              </a:rPr>
              <a:t>The threshold is a precomputed committed boolean, not a ZK inequality proof or proof of issuer truth.</a:t>
            </a:r>
          </a:p>
        </p:txBody>
      </p:sp>
    </p:spTree>
    <p:extLst>
      <p:ext uri="{BB962C8B-B14F-4D97-AF65-F5344CB8AC3E}">
        <p14:creationId xmlns:p14="http://schemas.microsoft.com/office/powerpoint/2010/main" val="935205823"/>
      </p:ext>
    </p:extLst>
  </p:cSld>
</p:sld>
</file>

<file path=ppt/slides/slide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8FBCEC1-C1E7-4D19-BAD9-02C432C9431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d81893a892b84391"/>
            <a:stretch>
              <a:fillRect l="-7181" t="-19076" r="-3000" b="-11427"/>
            </a:stretch>
          </a:blipFill>
        </p:spPr>
      </p:sp>
      <p:sp>
        <p:nvSpPr>
          <p:cNvPr id="3" name="section-title">
            <a:extLst xmlns:a="http://schemas.openxmlformats.org/drawingml/2006/main">
              <a:ext uri="{FF2B5EF4-FFF2-40B4-BE49-F238E27FC236}">
                <a16:creationId xmlns:a16="http://schemas.microsoft.com/office/drawing/2014/main" id="{98277FB8-CD00-40BF-A8F7-06469B0F32CE}"/>
              </a:ext>
            </a:extLst>
          </p:cNvPr>
          <p:cNvSpPr>
            <a:spLocks xmlns:a="http://schemas.openxmlformats.org/drawingml/2006/main" noGrp="1"/>
          </p:cNvSpPr>
          <p:nvPr/>
        </p:nvSpPr>
        <p:spPr>
          <a:xfrm xmlns:a="http://schemas.openxmlformats.org/drawingml/2006/main">
            <a:off x="1028700" y="723900"/>
            <a:ext cx="16049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75" b="0">
                <a:solidFill>
                  <a:srgbClr val="183B3A"/>
                </a:solidFill>
                <a:latin typeface="Times New Roman MT Condensed"/>
                <a:ea typeface="Times New Roman MT Condensed"/>
                <a:cs typeface="Times New Roman MT Condensed"/>
              </a:defRPr>
            </a:pPr>
            <a:r>
              <a:rPr sz="7875" b="0">
                <a:solidFill>
                  <a:srgbClr val="183B3A"/>
                </a:solidFill>
                <a:latin typeface="Times New Roman MT Condensed"/>
                <a:ea typeface="Times New Roman MT Condensed"/>
                <a:cs typeface="Times New Roman MT Condensed"/>
              </a:rPr>
              <a:t>Tech Stack &amp; Architecture</a:t>
            </a:r>
          </a:p>
        </p:txBody>
      </p:sp>
      <p:sp>
        <p:nvSpPr>
          <p:cNvPr id="4" name="header-rule">
            <a:extLst xmlns:a="http://schemas.openxmlformats.org/drawingml/2006/main">
              <a:ext uri="{FF2B5EF4-FFF2-40B4-BE49-F238E27FC236}">
                <a16:creationId xmlns:a16="http://schemas.microsoft.com/office/drawing/2014/main" id="{E0817609-9C36-4DEF-A062-9C97E739A412}"/>
              </a:ext>
            </a:extLst>
          </p:cNvPr>
          <p:cNvSpPr>
            <a:spLocks xmlns:a="http://schemas.openxmlformats.org/drawingml/2006/main" noGrp="1"/>
          </p:cNvSpPr>
          <p:nvPr/>
        </p:nvSpPr>
        <p:spPr>
          <a:xfrm xmlns:a="http://schemas.openxmlformats.org/drawingml/2006/main">
            <a:off x="1028700" y="2419350"/>
            <a:ext cx="16230600" cy="0"/>
          </a:xfrm>
          <a:prstGeom xmlns:a="http://schemas.openxmlformats.org/drawingml/2006/main" prst="line">
            <a:avLst/>
          </a:prstGeom>
          <a:ln xmlns:a="http://schemas.openxmlformats.org/drawingml/2006/main" w="28575">
            <a:solidFill>
              <a:srgbClr val="086F68"/>
            </a:solidFill>
          </a:ln>
        </p:spPr>
      </p:sp>
      <p:sp>
        <p:nvSpPr>
          <p:cNvPr id="5" name="footer">
            <a:extLst xmlns:a="http://schemas.openxmlformats.org/drawingml/2006/main">
              <a:ext uri="{FF2B5EF4-FFF2-40B4-BE49-F238E27FC236}">
                <a16:creationId xmlns:a16="http://schemas.microsoft.com/office/drawing/2014/main" id="{E492406C-21B4-4569-8167-E76025BC28E7}"/>
              </a:ext>
            </a:extLst>
          </p:cNvPr>
          <p:cNvSpPr>
            <a:spLocks xmlns:a="http://schemas.openxmlformats.org/drawingml/2006/main" noGrp="1"/>
          </p:cNvSpPr>
          <p:nvPr/>
        </p:nvSpPr>
        <p:spPr>
          <a:xfrm xmlns:a="http://schemas.openxmlformats.org/drawingml/2006/main">
            <a:off x="1028700" y="9734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67"/>
                </a:solidFill>
                <a:latin typeface="Open Sauce"/>
                <a:ea typeface="Open Sauce"/>
                <a:cs typeface="Open Sauce"/>
              </a:defRPr>
            </a:pPr>
            <a:r>
              <a:rPr sz="1650" b="0">
                <a:solidFill>
                  <a:srgbClr val="526767"/>
                </a:solidFill>
                <a:latin typeface="Open Sauce"/>
                <a:ea typeface="Open Sauce"/>
                <a:cs typeface="Open Sauce"/>
              </a:rPr>
              <a:t>Foliolet  /  HackSprint PS32</a:t>
            </a:r>
          </a:p>
        </p:txBody>
      </p:sp>
      <p:sp>
        <p:nvSpPr>
          <p:cNvPr id="6" name="page">
            <a:extLst xmlns:a="http://schemas.openxmlformats.org/drawingml/2006/main">
              <a:ext uri="{FF2B5EF4-FFF2-40B4-BE49-F238E27FC236}">
                <a16:creationId xmlns:a16="http://schemas.microsoft.com/office/drawing/2014/main" id="{3F41EAE0-D37C-418C-ACB3-156879981C1C}"/>
              </a:ext>
            </a:extLst>
          </p:cNvPr>
          <p:cNvSpPr>
            <a:spLocks xmlns:a="http://schemas.openxmlformats.org/drawingml/2006/main" noGrp="1"/>
          </p:cNvSpPr>
          <p:nvPr/>
        </p:nvSpPr>
        <p:spPr>
          <a:xfrm xmlns:a="http://schemas.openxmlformats.org/drawingml/2006/main">
            <a:off x="16459200" y="973455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26767"/>
                </a:solidFill>
                <a:latin typeface="Open Sauce"/>
                <a:ea typeface="Open Sauce"/>
                <a:cs typeface="Open Sauce"/>
              </a:defRPr>
            </a:pPr>
            <a:r>
              <a:rPr sz="1650" b="0">
                <a:solidFill>
                  <a:srgbClr val="526767"/>
                </a:solidFill>
                <a:latin typeface="Open Sauce"/>
                <a:ea typeface="Open Sauce"/>
                <a:cs typeface="Open Sauce"/>
              </a:rPr>
              <a:t>03</a:t>
            </a:r>
          </a:p>
        </p:txBody>
      </p:sp>
      <p:sp>
        <p:nvSpPr>
          <p:cNvPr id="7" name="architecture-summary">
            <a:extLst xmlns:a="http://schemas.openxmlformats.org/drawingml/2006/main">
              <a:ext uri="{FF2B5EF4-FFF2-40B4-BE49-F238E27FC236}">
                <a16:creationId xmlns:a16="http://schemas.microsoft.com/office/drawing/2014/main" id="{219D92EB-0405-40D0-A68E-DC09561E72AD}"/>
              </a:ext>
            </a:extLst>
          </p:cNvPr>
          <p:cNvSpPr>
            <a:spLocks xmlns:a="http://schemas.openxmlformats.org/drawingml/2006/main" noGrp="1"/>
          </p:cNvSpPr>
          <p:nvPr/>
        </p:nvSpPr>
        <p:spPr>
          <a:xfrm xmlns:a="http://schemas.openxmlformats.org/drawingml/2006/main">
            <a:off x="1028700" y="2800350"/>
            <a:ext cx="1623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B3A"/>
                </a:solidFill>
                <a:latin typeface="Open Sauce"/>
                <a:ea typeface="Open Sauce"/>
                <a:cs typeface="Open Sauce"/>
              </a:defRPr>
            </a:pPr>
            <a:r>
              <a:rPr sz="3000" b="1">
                <a:solidFill>
                  <a:srgbClr val="183B3A"/>
                </a:solidFill>
                <a:latin typeface="Open Sauce"/>
                <a:ea typeface="Open Sauce"/>
                <a:cs typeface="Open Sauce"/>
              </a:rPr>
              <a:t>Sensitive data stays off-chain. The registry exposes commitment and state.</a:t>
            </a:r>
          </a:p>
        </p:txBody>
      </p:sp>
      <p:sp>
        <p:nvSpPr>
          <p:cNvPr id="8" name="custodial-boundary">
            <a:extLst xmlns:a="http://schemas.openxmlformats.org/drawingml/2006/main">
              <a:ext uri="{FF2B5EF4-FFF2-40B4-BE49-F238E27FC236}">
                <a16:creationId xmlns:a16="http://schemas.microsoft.com/office/drawing/2014/main" id="{6CFF3BB4-EA48-48EE-8CEA-F492A72B4C2F}"/>
              </a:ext>
            </a:extLst>
          </p:cNvPr>
          <p:cNvSpPr>
            <a:spLocks xmlns:a="http://schemas.openxmlformats.org/drawingml/2006/main" noGrp="1"/>
          </p:cNvSpPr>
          <p:nvPr/>
        </p:nvSpPr>
        <p:spPr>
          <a:xfrm xmlns:a="http://schemas.openxmlformats.org/drawingml/2006/main">
            <a:off x="4648200" y="3657600"/>
            <a:ext cx="8429625" cy="4905375"/>
          </a:xfrm>
          <a:prstGeom xmlns:a="http://schemas.openxmlformats.org/drawingml/2006/main" prst="rect">
            <a:avLst/>
          </a:prstGeom>
          <a:noFill xmlns:a="http://schemas.openxmlformats.org/drawingml/2006/main"/>
          <a:ln xmlns:a="http://schemas.openxmlformats.org/drawingml/2006/main" w="19050">
            <a:solidFill>
              <a:srgbClr val="A8BFBA"/>
            </a:solidFill>
            <a:prstDash val="dash"/>
          </a:ln>
        </p:spPr>
      </p:sp>
      <p:sp>
        <p:nvSpPr>
          <p:cNvPr id="9" name="custody-label">
            <a:extLst xmlns:a="http://schemas.openxmlformats.org/drawingml/2006/main">
              <a:ext uri="{FF2B5EF4-FFF2-40B4-BE49-F238E27FC236}">
                <a16:creationId xmlns:a16="http://schemas.microsoft.com/office/drawing/2014/main" id="{B6E93538-9D71-4404-B645-B9269A1AEA74}"/>
              </a:ext>
            </a:extLst>
          </p:cNvPr>
          <p:cNvSpPr>
            <a:spLocks xmlns:a="http://schemas.openxmlformats.org/drawingml/2006/main" noGrp="1"/>
          </p:cNvSpPr>
          <p:nvPr/>
        </p:nvSpPr>
        <p:spPr>
          <a:xfrm xmlns:a="http://schemas.openxmlformats.org/drawingml/2006/main">
            <a:off x="5000625" y="3838575"/>
            <a:ext cx="7381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526767"/>
                </a:solidFill>
                <a:latin typeface="Open Sauce"/>
                <a:ea typeface="Open Sauce"/>
                <a:cs typeface="Open Sauce"/>
              </a:defRPr>
            </a:pPr>
            <a:r>
              <a:rPr sz="1875" b="1">
                <a:solidFill>
                  <a:srgbClr val="526767"/>
                </a:solidFill>
                <a:latin typeface="Open Sauce"/>
                <a:ea typeface="Open Sauce"/>
                <a:cs typeface="Open Sauce"/>
              </a:rPr>
              <a:t>CUSTODIAL SERVICE BOUNDARY</a:t>
            </a:r>
          </a:p>
        </p:txBody>
      </p:sp>
      <p:sp>
        <p:nvSpPr>
          <p:cNvPr id="10" name="holder">
            <a:extLst xmlns:a="http://schemas.openxmlformats.org/drawingml/2006/main">
              <a:ext uri="{FF2B5EF4-FFF2-40B4-BE49-F238E27FC236}">
                <a16:creationId xmlns:a16="http://schemas.microsoft.com/office/drawing/2014/main" id="{9CE1A041-9F4C-4BC8-A106-11ABDEA2A03B}"/>
              </a:ext>
            </a:extLst>
          </p:cNvPr>
          <p:cNvSpPr>
            <a:spLocks xmlns:a="http://schemas.openxmlformats.org/drawingml/2006/main" noGrp="1"/>
          </p:cNvSpPr>
          <p:nvPr/>
        </p:nvSpPr>
        <p:spPr>
          <a:xfrm xmlns:a="http://schemas.openxmlformats.org/drawingml/2006/main">
            <a:off x="1028700" y="4591050"/>
            <a:ext cx="2781300" cy="1123950"/>
          </a:xfrm>
          <a:prstGeom xmlns:a="http://schemas.openxmlformats.org/drawingml/2006/main" prst="rect">
            <a:avLst/>
          </a:prstGeom>
          <a:solidFill xmlns:a="http://schemas.openxmlformats.org/drawingml/2006/main">
            <a:srgbClr val="FAF9F5"/>
          </a:solidFill>
          <a:ln xmlns:a="http://schemas.openxmlformats.org/drawingml/2006/main" w="19050">
            <a:solidFill>
              <a:srgbClr val="A8BFBA"/>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475" b="1">
                <a:solidFill>
                  <a:srgbClr val="183B3A"/>
                </a:solidFill>
                <a:latin typeface="Open Sauce"/>
                <a:ea typeface="Open Sauce"/>
                <a:cs typeface="Open Sauce"/>
              </a:defRPr>
            </a:pPr>
            <a:r>
              <a:rPr sz="2475" b="1">
                <a:solidFill>
                  <a:srgbClr val="183B3A"/>
                </a:solidFill>
                <a:latin typeface="Open Sauce"/>
                <a:ea typeface="Open Sauce"/>
                <a:cs typeface="Open Sauce"/>
              </a:rPr>
              <a:t>Holder browser</a:t>
            </a:r>
          </a:p>
        </p:txBody>
      </p:sp>
      <p:sp>
        <p:nvSpPr>
          <p:cNvPr id="11" name="django">
            <a:extLst xmlns:a="http://schemas.openxmlformats.org/drawingml/2006/main">
              <a:ext uri="{FF2B5EF4-FFF2-40B4-BE49-F238E27FC236}">
                <a16:creationId xmlns:a16="http://schemas.microsoft.com/office/drawing/2014/main" id="{326883FC-F59E-434D-AD9D-14551EA4FB9F}"/>
              </a:ext>
            </a:extLst>
          </p:cNvPr>
          <p:cNvSpPr>
            <a:spLocks xmlns:a="http://schemas.openxmlformats.org/drawingml/2006/main" noGrp="1"/>
          </p:cNvSpPr>
          <p:nvPr/>
        </p:nvSpPr>
        <p:spPr>
          <a:xfrm xmlns:a="http://schemas.openxmlformats.org/drawingml/2006/main">
            <a:off x="5105400" y="4591050"/>
            <a:ext cx="2876550" cy="1123950"/>
          </a:xfrm>
          <a:prstGeom xmlns:a="http://schemas.openxmlformats.org/drawingml/2006/main" prst="rect">
            <a:avLst/>
          </a:prstGeom>
          <a:solidFill xmlns:a="http://schemas.openxmlformats.org/drawingml/2006/main">
            <a:srgbClr val="FAF9F5"/>
          </a:solidFill>
          <a:ln xmlns:a="http://schemas.openxmlformats.org/drawingml/2006/main" w="19050">
            <a:solidFill>
              <a:srgbClr val="A8BFBA"/>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250" b="1">
                <a:solidFill>
                  <a:srgbClr val="183B3A"/>
                </a:solidFill>
                <a:latin typeface="Open Sauce"/>
                <a:ea typeface="Open Sauce"/>
                <a:cs typeface="Open Sauce"/>
              </a:defRPr>
            </a:pPr>
            <a:r>
              <a:rPr sz="2250" b="1">
                <a:solidFill>
                  <a:srgbClr val="183B3A"/>
                </a:solidFill>
                <a:latin typeface="Open Sauce"/>
                <a:ea typeface="Open Sauce"/>
                <a:cs typeface="Open Sauce"/>
              </a:rPr>
              <a:t>Django UI</a:t>
            </a:r>
          </a:p>
          <a:p xmlns:a="http://schemas.openxmlformats.org/drawingml/2006/main">
            <a:pPr algn="ctr">
              <a:defRPr sz="2250" b="1">
                <a:solidFill>
                  <a:srgbClr val="183B3A"/>
                </a:solidFill>
                <a:latin typeface="Open Sauce"/>
                <a:ea typeface="Open Sauce"/>
                <a:cs typeface="Open Sauce"/>
              </a:defRPr>
            </a:pPr>
            <a:r>
              <a:rPr sz="2250" b="1">
                <a:solidFill>
                  <a:srgbClr val="183B3A"/>
                </a:solidFill>
                <a:latin typeface="Open Sauce"/>
                <a:ea typeface="Open Sauce"/>
                <a:cs typeface="Open Sauce"/>
              </a:rPr>
              <a:t>Review + sharing</a:t>
            </a:r>
          </a:p>
        </p:txBody>
      </p:sp>
      <p:sp>
        <p:nvSpPr>
          <p:cNvPr id="12" name="spring">
            <a:extLst xmlns:a="http://schemas.openxmlformats.org/drawingml/2006/main">
              <a:ext uri="{FF2B5EF4-FFF2-40B4-BE49-F238E27FC236}">
                <a16:creationId xmlns:a16="http://schemas.microsoft.com/office/drawing/2014/main" id="{39856DE5-15BC-434C-954D-D3B390DA17E7}"/>
              </a:ext>
            </a:extLst>
          </p:cNvPr>
          <p:cNvSpPr>
            <a:spLocks xmlns:a="http://schemas.openxmlformats.org/drawingml/2006/main" noGrp="1"/>
          </p:cNvSpPr>
          <p:nvPr/>
        </p:nvSpPr>
        <p:spPr>
          <a:xfrm xmlns:a="http://schemas.openxmlformats.org/drawingml/2006/main">
            <a:off x="8810625" y="4591050"/>
            <a:ext cx="3705225" cy="1123950"/>
          </a:xfrm>
          <a:prstGeom xmlns:a="http://schemas.openxmlformats.org/drawingml/2006/main" prst="rect">
            <a:avLst/>
          </a:prstGeom>
          <a:solidFill xmlns:a="http://schemas.openxmlformats.org/drawingml/2006/main">
            <a:srgbClr val="E6F0EC"/>
          </a:solidFill>
          <a:ln xmlns:a="http://schemas.openxmlformats.org/drawingml/2006/main" w="19050">
            <a:solidFill>
              <a:srgbClr val="A8BFBA"/>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400" b="1">
                <a:solidFill>
                  <a:srgbClr val="183B3A"/>
                </a:solidFill>
                <a:latin typeface="Open Sauce"/>
                <a:ea typeface="Open Sauce"/>
                <a:cs typeface="Open Sauce"/>
              </a:defRPr>
            </a:pPr>
            <a:r>
              <a:rPr sz="2400" b="1">
                <a:solidFill>
                  <a:srgbClr val="183B3A"/>
                </a:solidFill>
                <a:latin typeface="Open Sauce"/>
                <a:ea typeface="Open Sauce"/>
                <a:cs typeface="Open Sauce"/>
              </a:rPr>
              <a:t>Spring Boot</a:t>
            </a:r>
          </a:p>
          <a:p xmlns:a="http://schemas.openxmlformats.org/drawingml/2006/main">
            <a:pPr algn="ctr">
              <a:defRPr sz="2400" b="1">
                <a:solidFill>
                  <a:srgbClr val="183B3A"/>
                </a:solidFill>
                <a:latin typeface="Open Sauce"/>
                <a:ea typeface="Open Sauce"/>
                <a:cs typeface="Open Sauce"/>
              </a:defRPr>
            </a:pPr>
            <a:r>
              <a:rPr sz="2400" b="1">
                <a:solidFill>
                  <a:srgbClr val="183B3A"/>
                </a:solidFill>
                <a:latin typeface="Open Sauce"/>
                <a:ea typeface="Open Sauce"/>
                <a:cs typeface="Open Sauce"/>
              </a:rPr>
              <a:t>Proofs + policy</a:t>
            </a:r>
          </a:p>
        </p:txBody>
      </p:sp>
      <p:sp>
        <p:nvSpPr>
          <p:cNvPr id="13" name="registry">
            <a:extLst xmlns:a="http://schemas.openxmlformats.org/drawingml/2006/main">
              <a:ext uri="{FF2B5EF4-FFF2-40B4-BE49-F238E27FC236}">
                <a16:creationId xmlns:a16="http://schemas.microsoft.com/office/drawing/2014/main" id="{2B4F8BA8-F3C2-4C6F-91AF-8AD4A216D906}"/>
              </a:ext>
            </a:extLst>
          </p:cNvPr>
          <p:cNvSpPr>
            <a:spLocks xmlns:a="http://schemas.openxmlformats.org/drawingml/2006/main" noGrp="1"/>
          </p:cNvSpPr>
          <p:nvPr/>
        </p:nvSpPr>
        <p:spPr>
          <a:xfrm xmlns:a="http://schemas.openxmlformats.org/drawingml/2006/main">
            <a:off x="14001750" y="4343400"/>
            <a:ext cx="3257550" cy="1619250"/>
          </a:xfrm>
          <a:prstGeom xmlns:a="http://schemas.openxmlformats.org/drawingml/2006/main" prst="rect">
            <a:avLst/>
          </a:prstGeom>
          <a:solidFill xmlns:a="http://schemas.openxmlformats.org/drawingml/2006/main">
            <a:srgbClr val="E6F0EC"/>
          </a:solidFill>
          <a:ln xmlns:a="http://schemas.openxmlformats.org/drawingml/2006/main" w="19050">
            <a:solidFill>
              <a:srgbClr val="086F68"/>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Solidity registry</a:t>
            </a:r>
          </a:p>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Root + current state</a:t>
            </a:r>
          </a:p>
        </p:txBody>
      </p:sp>
      <p:sp>
        <p:nvSpPr>
          <p:cNvPr id="14" name="flow-2-12">
            <a:extLst xmlns:a="http://schemas.openxmlformats.org/drawingml/2006/main">
              <a:ext uri="{FF2B5EF4-FFF2-40B4-BE49-F238E27FC236}">
                <a16:creationId xmlns:a16="http://schemas.microsoft.com/office/drawing/2014/main" id="{2A3412E7-7206-4ACE-989C-8ED8D976B884}"/>
              </a:ext>
            </a:extLst>
          </p:cNvPr>
          <p:cNvSpPr>
            <a:spLocks xmlns:a="http://schemas.openxmlformats.org/drawingml/2006/main" noGrp="1"/>
          </p:cNvSpPr>
          <p:nvPr/>
        </p:nvSpPr>
        <p:spPr>
          <a:xfrm xmlns:a="http://schemas.openxmlformats.org/drawingml/2006/main">
            <a:off x="3876675" y="5067300"/>
            <a:ext cx="1162050" cy="171450"/>
          </a:xfrm>
          <a:prstGeom xmlns:a="http://schemas.openxmlformats.org/drawingml/2006/main" prst="rightArrow">
            <a:avLst/>
          </a:prstGeom>
          <a:solidFill xmlns:a="http://schemas.openxmlformats.org/drawingml/2006/main">
            <a:srgbClr val="086F68"/>
          </a:solidFill>
          <a:ln xmlns:a="http://schemas.openxmlformats.org/drawingml/2006/main" w="0">
            <a:noFill/>
          </a:ln>
        </p:spPr>
      </p:sp>
      <p:sp>
        <p:nvSpPr>
          <p:cNvPr id="15" name="flow-3-13">
            <a:extLst xmlns:a="http://schemas.openxmlformats.org/drawingml/2006/main">
              <a:ext uri="{FF2B5EF4-FFF2-40B4-BE49-F238E27FC236}">
                <a16:creationId xmlns:a16="http://schemas.microsoft.com/office/drawing/2014/main" id="{596CB4DF-FF01-4B5F-99D1-AB193C709F4E}"/>
              </a:ext>
            </a:extLst>
          </p:cNvPr>
          <p:cNvSpPr>
            <a:spLocks xmlns:a="http://schemas.openxmlformats.org/drawingml/2006/main" noGrp="1"/>
          </p:cNvSpPr>
          <p:nvPr/>
        </p:nvSpPr>
        <p:spPr>
          <a:xfrm xmlns:a="http://schemas.openxmlformats.org/drawingml/2006/main">
            <a:off x="8048625" y="5067300"/>
            <a:ext cx="695325" cy="171450"/>
          </a:xfrm>
          <a:prstGeom xmlns:a="http://schemas.openxmlformats.org/drawingml/2006/main" prst="rightArrow">
            <a:avLst/>
          </a:prstGeom>
          <a:solidFill xmlns:a="http://schemas.openxmlformats.org/drawingml/2006/main">
            <a:srgbClr val="086F68"/>
          </a:solidFill>
          <a:ln xmlns:a="http://schemas.openxmlformats.org/drawingml/2006/main" w="0">
            <a:noFill/>
          </a:ln>
        </p:spPr>
      </p:sp>
      <p:sp>
        <p:nvSpPr>
          <p:cNvPr id="16" name="flow-4-14">
            <a:extLst xmlns:a="http://schemas.openxmlformats.org/drawingml/2006/main">
              <a:ext uri="{FF2B5EF4-FFF2-40B4-BE49-F238E27FC236}">
                <a16:creationId xmlns:a16="http://schemas.microsoft.com/office/drawing/2014/main" id="{DB825007-C0B2-47CE-B10B-2F386334B6BD}"/>
              </a:ext>
            </a:extLst>
          </p:cNvPr>
          <p:cNvSpPr>
            <a:spLocks xmlns:a="http://schemas.openxmlformats.org/drawingml/2006/main" noGrp="1"/>
          </p:cNvSpPr>
          <p:nvPr/>
        </p:nvSpPr>
        <p:spPr>
          <a:xfrm xmlns:a="http://schemas.openxmlformats.org/drawingml/2006/main">
            <a:off x="12582525" y="5067300"/>
            <a:ext cx="1352550" cy="171450"/>
          </a:xfrm>
          <a:prstGeom xmlns:a="http://schemas.openxmlformats.org/drawingml/2006/main" prst="rightArrow">
            <a:avLst/>
          </a:prstGeom>
          <a:solidFill xmlns:a="http://schemas.openxmlformats.org/drawingml/2006/main">
            <a:srgbClr val="086F68"/>
          </a:solidFill>
          <a:ln xmlns:a="http://schemas.openxmlformats.org/drawingml/2006/main" w="0">
            <a:noFill/>
          </a:ln>
        </p:spPr>
      </p:sp>
      <p:sp>
        <p:nvSpPr>
          <p:cNvPr id="17" name="web3j">
            <a:extLst xmlns:a="http://schemas.openxmlformats.org/drawingml/2006/main">
              <a:ext uri="{FF2B5EF4-FFF2-40B4-BE49-F238E27FC236}">
                <a16:creationId xmlns:a16="http://schemas.microsoft.com/office/drawing/2014/main" id="{68DB5C7C-19ED-45A5-AC23-6124BA409DB4}"/>
              </a:ext>
            </a:extLst>
          </p:cNvPr>
          <p:cNvSpPr>
            <a:spLocks xmlns:a="http://schemas.openxmlformats.org/drawingml/2006/main" noGrp="1"/>
          </p:cNvSpPr>
          <p:nvPr/>
        </p:nvSpPr>
        <p:spPr>
          <a:xfrm xmlns:a="http://schemas.openxmlformats.org/drawingml/2006/main">
            <a:off x="12649200" y="4667250"/>
            <a:ext cx="1257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0">
                <a:solidFill>
                  <a:srgbClr val="086F68"/>
                </a:solidFill>
                <a:latin typeface="Open Sauce"/>
                <a:ea typeface="Open Sauce"/>
                <a:cs typeface="Open Sauce"/>
              </a:defRPr>
            </a:pPr>
            <a:r>
              <a:rPr sz="1875" b="0">
                <a:solidFill>
                  <a:srgbClr val="086F68"/>
                </a:solidFill>
                <a:latin typeface="Open Sauce"/>
                <a:ea typeface="Open Sauce"/>
                <a:cs typeface="Open Sauce"/>
              </a:rPr>
              <a:t>Web3j</a:t>
            </a:r>
          </a:p>
        </p:txBody>
      </p:sp>
      <p:sp>
        <p:nvSpPr>
          <p:cNvPr id="18" name="vault">
            <a:extLst xmlns:a="http://schemas.openxmlformats.org/drawingml/2006/main">
              <a:ext uri="{FF2B5EF4-FFF2-40B4-BE49-F238E27FC236}">
                <a16:creationId xmlns:a16="http://schemas.microsoft.com/office/drawing/2014/main" id="{2454D135-8C84-4C90-869B-875018E0FA38}"/>
              </a:ext>
            </a:extLst>
          </p:cNvPr>
          <p:cNvSpPr>
            <a:spLocks xmlns:a="http://schemas.openxmlformats.org/drawingml/2006/main" noGrp="1"/>
          </p:cNvSpPr>
          <p:nvPr/>
        </p:nvSpPr>
        <p:spPr>
          <a:xfrm xmlns:a="http://schemas.openxmlformats.org/drawingml/2006/main">
            <a:off x="5105400" y="6924675"/>
            <a:ext cx="3362325" cy="1200150"/>
          </a:xfrm>
          <a:prstGeom xmlns:a="http://schemas.openxmlformats.org/drawingml/2006/main" prst="rect">
            <a:avLst/>
          </a:prstGeom>
          <a:solidFill xmlns:a="http://schemas.openxmlformats.org/drawingml/2006/main">
            <a:srgbClr val="FAF9F5"/>
          </a:solidFill>
          <a:ln xmlns:a="http://schemas.openxmlformats.org/drawingml/2006/main" w="19050">
            <a:solidFill>
              <a:srgbClr val="A8BFBA"/>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175" b="1">
                <a:solidFill>
                  <a:srgbClr val="183B3A"/>
                </a:solidFill>
                <a:latin typeface="Open Sauce"/>
                <a:ea typeface="Open Sauce"/>
                <a:cs typeface="Open Sauce"/>
              </a:defRPr>
            </a:pPr>
            <a:r>
              <a:rPr sz="2175" b="1">
                <a:solidFill>
                  <a:srgbClr val="183B3A"/>
                </a:solidFill>
                <a:latin typeface="Open Sauce"/>
                <a:ea typeface="Open Sauce"/>
                <a:cs typeface="Open Sauce"/>
              </a:rPr>
              <a:t>AES-GCM vault</a:t>
            </a:r>
          </a:p>
          <a:p xmlns:a="http://schemas.openxmlformats.org/drawingml/2006/main">
            <a:pPr algn="ctr">
              <a:defRPr sz="2175" b="1">
                <a:solidFill>
                  <a:srgbClr val="183B3A"/>
                </a:solidFill>
                <a:latin typeface="Open Sauce"/>
                <a:ea typeface="Open Sauce"/>
                <a:cs typeface="Open Sauce"/>
              </a:defRPr>
            </a:pPr>
            <a:r>
              <a:rPr sz="2175" b="1">
                <a:solidFill>
                  <a:srgbClr val="183B3A"/>
                </a:solidFill>
                <a:latin typeface="Open Sauce"/>
                <a:ea typeface="Open Sauce"/>
                <a:cs typeface="Open Sauce"/>
              </a:rPr>
              <a:t>Originals + backups</a:t>
            </a:r>
          </a:p>
        </p:txBody>
      </p:sp>
      <p:sp>
        <p:nvSpPr>
          <p:cNvPr id="19" name="postgres">
            <a:extLst xmlns:a="http://schemas.openxmlformats.org/drawingml/2006/main">
              <a:ext uri="{FF2B5EF4-FFF2-40B4-BE49-F238E27FC236}">
                <a16:creationId xmlns:a16="http://schemas.microsoft.com/office/drawing/2014/main" id="{4EB73988-81D1-4181-AE60-7E786DAACCAE}"/>
              </a:ext>
            </a:extLst>
          </p:cNvPr>
          <p:cNvSpPr>
            <a:spLocks xmlns:a="http://schemas.openxmlformats.org/drawingml/2006/main" noGrp="1"/>
          </p:cNvSpPr>
          <p:nvPr/>
        </p:nvSpPr>
        <p:spPr>
          <a:xfrm xmlns:a="http://schemas.openxmlformats.org/drawingml/2006/main">
            <a:off x="9210675" y="6924675"/>
            <a:ext cx="3305175" cy="1200150"/>
          </a:xfrm>
          <a:prstGeom xmlns:a="http://schemas.openxmlformats.org/drawingml/2006/main" prst="rect">
            <a:avLst/>
          </a:prstGeom>
          <a:solidFill xmlns:a="http://schemas.openxmlformats.org/drawingml/2006/main">
            <a:srgbClr val="FAF9F5"/>
          </a:solidFill>
          <a:ln xmlns:a="http://schemas.openxmlformats.org/drawingml/2006/main" w="19050">
            <a:solidFill>
              <a:srgbClr val="A8BFBA"/>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175" b="1">
                <a:solidFill>
                  <a:srgbClr val="183B3A"/>
                </a:solidFill>
                <a:latin typeface="Open Sauce"/>
                <a:ea typeface="Open Sauce"/>
                <a:cs typeface="Open Sauce"/>
              </a:defRPr>
            </a:pPr>
            <a:r>
              <a:rPr sz="2175" b="1">
                <a:solidFill>
                  <a:srgbClr val="183B3A"/>
                </a:solidFill>
                <a:latin typeface="Open Sauce"/>
                <a:ea typeface="Open Sauce"/>
                <a:cs typeface="Open Sauce"/>
              </a:rPr>
              <a:t>PostgreSQL</a:t>
            </a:r>
          </a:p>
          <a:p xmlns:a="http://schemas.openxmlformats.org/drawingml/2006/main">
            <a:pPr algn="ctr">
              <a:defRPr sz="2175" b="1">
                <a:solidFill>
                  <a:srgbClr val="183B3A"/>
                </a:solidFill>
                <a:latin typeface="Open Sauce"/>
                <a:ea typeface="Open Sauce"/>
                <a:cs typeface="Open Sauce"/>
              </a:defRPr>
            </a:pPr>
            <a:r>
              <a:rPr sz="2175" b="1">
                <a:solidFill>
                  <a:srgbClr val="183B3A"/>
                </a:solidFill>
                <a:latin typeface="Open Sauce"/>
                <a:ea typeface="Open Sauce"/>
                <a:cs typeface="Open Sauce"/>
              </a:rPr>
              <a:t>Claims + grants</a:t>
            </a:r>
          </a:p>
        </p:txBody>
      </p:sp>
      <p:sp>
        <p:nvSpPr>
          <p:cNvPr id="20" name="flow-5-18">
            <a:extLst xmlns:a="http://schemas.openxmlformats.org/drawingml/2006/main">
              <a:ext uri="{FF2B5EF4-FFF2-40B4-BE49-F238E27FC236}">
                <a16:creationId xmlns:a16="http://schemas.microsoft.com/office/drawing/2014/main" id="{3F8DA941-6DC8-4F35-9D43-1FBA54190C26}"/>
              </a:ext>
            </a:extLst>
          </p:cNvPr>
          <p:cNvSpPr>
            <a:spLocks xmlns:a="http://schemas.openxmlformats.org/drawingml/2006/main" noGrp="1"/>
          </p:cNvSpPr>
          <p:nvPr/>
        </p:nvSpPr>
        <p:spPr>
          <a:xfrm xmlns:a="http://schemas.openxmlformats.org/drawingml/2006/main">
            <a:off x="10648950" y="5700713"/>
            <a:ext cx="28575" cy="604838"/>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21" name="flow-5-19">
            <a:extLst xmlns:a="http://schemas.openxmlformats.org/drawingml/2006/main">
              <a:ext uri="{FF2B5EF4-FFF2-40B4-BE49-F238E27FC236}">
                <a16:creationId xmlns:a16="http://schemas.microsoft.com/office/drawing/2014/main" id="{E6AA875A-B7E3-42D4-BCE9-F3642083F5DF}"/>
              </a:ext>
            </a:extLst>
          </p:cNvPr>
          <p:cNvSpPr>
            <a:spLocks xmlns:a="http://schemas.openxmlformats.org/drawingml/2006/main" noGrp="1"/>
          </p:cNvSpPr>
          <p:nvPr/>
        </p:nvSpPr>
        <p:spPr>
          <a:xfrm xmlns:a="http://schemas.openxmlformats.org/drawingml/2006/main">
            <a:off x="10648950" y="6305550"/>
            <a:ext cx="200025" cy="28575"/>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22" name="flow-5-20">
            <a:extLst xmlns:a="http://schemas.openxmlformats.org/drawingml/2006/main">
              <a:ext uri="{FF2B5EF4-FFF2-40B4-BE49-F238E27FC236}">
                <a16:creationId xmlns:a16="http://schemas.microsoft.com/office/drawing/2014/main" id="{85ECA7DF-E488-4F7B-8F8D-31244A954025}"/>
              </a:ext>
            </a:extLst>
          </p:cNvPr>
          <p:cNvSpPr>
            <a:spLocks xmlns:a="http://schemas.openxmlformats.org/drawingml/2006/main" noGrp="1"/>
          </p:cNvSpPr>
          <p:nvPr/>
        </p:nvSpPr>
        <p:spPr>
          <a:xfrm xmlns:a="http://schemas.openxmlformats.org/drawingml/2006/main">
            <a:off x="10848975" y="6305550"/>
            <a:ext cx="28575" cy="414338"/>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23" name="flow-5-21">
            <a:extLst xmlns:a="http://schemas.openxmlformats.org/drawingml/2006/main">
              <a:ext uri="{FF2B5EF4-FFF2-40B4-BE49-F238E27FC236}">
                <a16:creationId xmlns:a16="http://schemas.microsoft.com/office/drawing/2014/main" id="{265E7C13-6B68-4510-9DCF-83C7C8DF0F4A}"/>
              </a:ext>
            </a:extLst>
          </p:cNvPr>
          <p:cNvSpPr>
            <a:spLocks xmlns:a="http://schemas.openxmlformats.org/drawingml/2006/main" noGrp="1"/>
          </p:cNvSpPr>
          <p:nvPr/>
        </p:nvSpPr>
        <p:spPr>
          <a:xfrm xmlns:a="http://schemas.openxmlformats.org/drawingml/2006/main">
            <a:off x="10787063" y="6677025"/>
            <a:ext cx="152400" cy="219075"/>
          </a:xfrm>
          <a:prstGeom xmlns:a="http://schemas.openxmlformats.org/drawingml/2006/main" prst="downArrow">
            <a:avLst/>
          </a:prstGeom>
          <a:solidFill xmlns:a="http://schemas.openxmlformats.org/drawingml/2006/main">
            <a:srgbClr val="086F68"/>
          </a:solidFill>
          <a:ln xmlns:a="http://schemas.openxmlformats.org/drawingml/2006/main" w="0">
            <a:noFill/>
          </a:ln>
        </p:spPr>
      </p:sp>
      <p:sp>
        <p:nvSpPr>
          <p:cNvPr id="24" name="flow-6-22">
            <a:extLst xmlns:a="http://schemas.openxmlformats.org/drawingml/2006/main">
              <a:ext uri="{FF2B5EF4-FFF2-40B4-BE49-F238E27FC236}">
                <a16:creationId xmlns:a16="http://schemas.microsoft.com/office/drawing/2014/main" id="{54670AA2-D4D8-49D0-AF10-E0EC48A714AC}"/>
              </a:ext>
            </a:extLst>
          </p:cNvPr>
          <p:cNvSpPr>
            <a:spLocks xmlns:a="http://schemas.openxmlformats.org/drawingml/2006/main" noGrp="1"/>
          </p:cNvSpPr>
          <p:nvPr/>
        </p:nvSpPr>
        <p:spPr>
          <a:xfrm xmlns:a="http://schemas.openxmlformats.org/drawingml/2006/main">
            <a:off x="10648950" y="5700713"/>
            <a:ext cx="28575" cy="604838"/>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25" name="flow-6-23">
            <a:extLst xmlns:a="http://schemas.openxmlformats.org/drawingml/2006/main">
              <a:ext uri="{FF2B5EF4-FFF2-40B4-BE49-F238E27FC236}">
                <a16:creationId xmlns:a16="http://schemas.microsoft.com/office/drawing/2014/main" id="{03DD265C-E754-4E69-A16C-ACC5B3C500A3}"/>
              </a:ext>
            </a:extLst>
          </p:cNvPr>
          <p:cNvSpPr>
            <a:spLocks xmlns:a="http://schemas.openxmlformats.org/drawingml/2006/main" noGrp="1"/>
          </p:cNvSpPr>
          <p:nvPr/>
        </p:nvSpPr>
        <p:spPr>
          <a:xfrm xmlns:a="http://schemas.openxmlformats.org/drawingml/2006/main">
            <a:off x="6772275" y="6305550"/>
            <a:ext cx="3876675" cy="28575"/>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26" name="flow-6-24">
            <a:extLst xmlns:a="http://schemas.openxmlformats.org/drawingml/2006/main">
              <a:ext uri="{FF2B5EF4-FFF2-40B4-BE49-F238E27FC236}">
                <a16:creationId xmlns:a16="http://schemas.microsoft.com/office/drawing/2014/main" id="{05F91C58-6A1A-444B-9DCA-FECD42D099CE}"/>
              </a:ext>
            </a:extLst>
          </p:cNvPr>
          <p:cNvSpPr>
            <a:spLocks xmlns:a="http://schemas.openxmlformats.org/drawingml/2006/main" noGrp="1"/>
          </p:cNvSpPr>
          <p:nvPr/>
        </p:nvSpPr>
        <p:spPr>
          <a:xfrm xmlns:a="http://schemas.openxmlformats.org/drawingml/2006/main">
            <a:off x="6772275" y="6305550"/>
            <a:ext cx="28575" cy="414338"/>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27" name="flow-6-25">
            <a:extLst xmlns:a="http://schemas.openxmlformats.org/drawingml/2006/main">
              <a:ext uri="{FF2B5EF4-FFF2-40B4-BE49-F238E27FC236}">
                <a16:creationId xmlns:a16="http://schemas.microsoft.com/office/drawing/2014/main" id="{0516D2DF-E796-448F-8A38-C11AD08820D2}"/>
              </a:ext>
            </a:extLst>
          </p:cNvPr>
          <p:cNvSpPr>
            <a:spLocks xmlns:a="http://schemas.openxmlformats.org/drawingml/2006/main" noGrp="1"/>
          </p:cNvSpPr>
          <p:nvPr/>
        </p:nvSpPr>
        <p:spPr>
          <a:xfrm xmlns:a="http://schemas.openxmlformats.org/drawingml/2006/main">
            <a:off x="6710363" y="6677025"/>
            <a:ext cx="152400" cy="219075"/>
          </a:xfrm>
          <a:prstGeom xmlns:a="http://schemas.openxmlformats.org/drawingml/2006/main" prst="downArrow">
            <a:avLst/>
          </a:prstGeom>
          <a:solidFill xmlns:a="http://schemas.openxmlformats.org/drawingml/2006/main">
            <a:srgbClr val="086F68"/>
          </a:solidFill>
          <a:ln xmlns:a="http://schemas.openxmlformats.org/drawingml/2006/main" w="0">
            <a:noFill/>
          </a:ln>
        </p:spPr>
      </p:sp>
      <p:sp>
        <p:nvSpPr>
          <p:cNvPr id="28" name="independent">
            <a:extLst xmlns:a="http://schemas.openxmlformats.org/drawingml/2006/main">
              <a:ext uri="{FF2B5EF4-FFF2-40B4-BE49-F238E27FC236}">
                <a16:creationId xmlns:a16="http://schemas.microsoft.com/office/drawing/2014/main" id="{FFF3D81D-C5A9-447D-904F-7F8331396910}"/>
              </a:ext>
            </a:extLst>
          </p:cNvPr>
          <p:cNvSpPr>
            <a:spLocks xmlns:a="http://schemas.openxmlformats.org/drawingml/2006/main" noGrp="1"/>
          </p:cNvSpPr>
          <p:nvPr/>
        </p:nvSpPr>
        <p:spPr>
          <a:xfrm xmlns:a="http://schemas.openxmlformats.org/drawingml/2006/main">
            <a:off x="14001750" y="6934200"/>
            <a:ext cx="3257550" cy="1428750"/>
          </a:xfrm>
          <a:prstGeom xmlns:a="http://schemas.openxmlformats.org/drawingml/2006/main" prst="rect">
            <a:avLst/>
          </a:prstGeom>
          <a:solidFill xmlns:a="http://schemas.openxmlformats.org/drawingml/2006/main">
            <a:srgbClr val="FAF9F5"/>
          </a:solidFill>
          <a:ln xmlns:a="http://schemas.openxmlformats.org/drawingml/2006/main" w="19050">
            <a:solidFill>
              <a:srgbClr val="A8BFBA"/>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025" b="1">
                <a:solidFill>
                  <a:srgbClr val="183B3A"/>
                </a:solidFill>
                <a:latin typeface="Open Sauce"/>
                <a:ea typeface="Open Sauce"/>
                <a:cs typeface="Open Sauce"/>
              </a:defRPr>
            </a:pPr>
            <a:r>
              <a:rPr sz="2025" b="1">
                <a:solidFill>
                  <a:srgbClr val="183B3A"/>
                </a:solidFill>
                <a:latin typeface="Open Sauce"/>
                <a:ea typeface="Open Sauce"/>
                <a:cs typeface="Open Sauce"/>
              </a:rPr>
              <a:t>Browser / Node</a:t>
            </a:r>
          </a:p>
          <a:p xmlns:a="http://schemas.openxmlformats.org/drawingml/2006/main">
            <a:pPr algn="ctr">
              <a:defRPr sz="2025" b="1">
                <a:solidFill>
                  <a:srgbClr val="183B3A"/>
                </a:solidFill>
                <a:latin typeface="Open Sauce"/>
                <a:ea typeface="Open Sauce"/>
                <a:cs typeface="Open Sauce"/>
              </a:defRPr>
            </a:pPr>
            <a:r>
              <a:rPr sz="2025" b="1">
                <a:solidFill>
                  <a:srgbClr val="183B3A"/>
                </a:solidFill>
                <a:latin typeface="Open Sauce"/>
                <a:ea typeface="Open Sauce"/>
                <a:cs typeface="Open Sauce"/>
              </a:rPr>
              <a:t>Recompute proof + signature</a:t>
            </a:r>
          </a:p>
        </p:txBody>
      </p:sp>
      <p:sp>
        <p:nvSpPr>
          <p:cNvPr id="29" name="flow-7-27">
            <a:extLst xmlns:a="http://schemas.openxmlformats.org/drawingml/2006/main">
              <a:ext uri="{FF2B5EF4-FFF2-40B4-BE49-F238E27FC236}">
                <a16:creationId xmlns:a16="http://schemas.microsoft.com/office/drawing/2014/main" id="{07244323-8F47-4CFE-84BD-D4A16B60D658}"/>
              </a:ext>
            </a:extLst>
          </p:cNvPr>
          <p:cNvSpPr>
            <a:spLocks xmlns:a="http://schemas.openxmlformats.org/drawingml/2006/main" noGrp="1"/>
          </p:cNvSpPr>
          <p:nvPr/>
        </p:nvSpPr>
        <p:spPr>
          <a:xfrm xmlns:a="http://schemas.openxmlformats.org/drawingml/2006/main">
            <a:off x="15616238" y="6434138"/>
            <a:ext cx="28575" cy="485775"/>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30" name="flow-7-28">
            <a:extLst xmlns:a="http://schemas.openxmlformats.org/drawingml/2006/main">
              <a:ext uri="{FF2B5EF4-FFF2-40B4-BE49-F238E27FC236}">
                <a16:creationId xmlns:a16="http://schemas.microsoft.com/office/drawing/2014/main" id="{FCCD22FE-8D61-4DFA-B4F4-F9E83CB250CB}"/>
              </a:ext>
            </a:extLst>
          </p:cNvPr>
          <p:cNvSpPr>
            <a:spLocks xmlns:a="http://schemas.openxmlformats.org/drawingml/2006/main" noGrp="1"/>
          </p:cNvSpPr>
          <p:nvPr/>
        </p:nvSpPr>
        <p:spPr>
          <a:xfrm xmlns:a="http://schemas.openxmlformats.org/drawingml/2006/main">
            <a:off x="15616238" y="6434138"/>
            <a:ext cx="28575" cy="28575"/>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31" name="flow-7-29">
            <a:extLst xmlns:a="http://schemas.openxmlformats.org/drawingml/2006/main">
              <a:ext uri="{FF2B5EF4-FFF2-40B4-BE49-F238E27FC236}">
                <a16:creationId xmlns:a16="http://schemas.microsoft.com/office/drawing/2014/main" id="{5153D0E0-E438-43B8-9B08-29BE1B1ED026}"/>
              </a:ext>
            </a:extLst>
          </p:cNvPr>
          <p:cNvSpPr>
            <a:spLocks xmlns:a="http://schemas.openxmlformats.org/drawingml/2006/main" noGrp="1"/>
          </p:cNvSpPr>
          <p:nvPr/>
        </p:nvSpPr>
        <p:spPr>
          <a:xfrm xmlns:a="http://schemas.openxmlformats.org/drawingml/2006/main">
            <a:off x="15616238" y="6138863"/>
            <a:ext cx="28575" cy="295275"/>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32" name="flow-7-30">
            <a:extLst xmlns:a="http://schemas.openxmlformats.org/drawingml/2006/main">
              <a:ext uri="{FF2B5EF4-FFF2-40B4-BE49-F238E27FC236}">
                <a16:creationId xmlns:a16="http://schemas.microsoft.com/office/drawing/2014/main" id="{8CD99D19-9D34-41C3-B6F8-3D3BCCB6E6B2}"/>
              </a:ext>
            </a:extLst>
          </p:cNvPr>
          <p:cNvSpPr>
            <a:spLocks xmlns:a="http://schemas.openxmlformats.org/drawingml/2006/main" noGrp="1"/>
          </p:cNvSpPr>
          <p:nvPr/>
        </p:nvSpPr>
        <p:spPr>
          <a:xfrm xmlns:a="http://schemas.openxmlformats.org/drawingml/2006/main">
            <a:off x="15554325" y="5991225"/>
            <a:ext cx="152400" cy="219075"/>
          </a:xfrm>
          <a:prstGeom xmlns:a="http://schemas.openxmlformats.org/drawingml/2006/main" prst="upArrow">
            <a:avLst/>
          </a:prstGeom>
          <a:solidFill xmlns:a="http://schemas.openxmlformats.org/drawingml/2006/main">
            <a:srgbClr val="086F68"/>
          </a:solidFill>
          <a:ln xmlns:a="http://schemas.openxmlformats.org/drawingml/2006/main" w="0">
            <a:noFill/>
          </a:ln>
        </p:spPr>
      </p:sp>
      <p:sp>
        <p:nvSpPr>
          <p:cNvPr id="33" name="rpc">
            <a:extLst xmlns:a="http://schemas.openxmlformats.org/drawingml/2006/main">
              <a:ext uri="{FF2B5EF4-FFF2-40B4-BE49-F238E27FC236}">
                <a16:creationId xmlns:a16="http://schemas.microsoft.com/office/drawing/2014/main" id="{D43DBD01-8DE5-4D15-BCB1-C721EAA4E4EB}"/>
              </a:ext>
            </a:extLst>
          </p:cNvPr>
          <p:cNvSpPr>
            <a:spLocks xmlns:a="http://schemas.openxmlformats.org/drawingml/2006/main" noGrp="1"/>
          </p:cNvSpPr>
          <p:nvPr/>
        </p:nvSpPr>
        <p:spPr>
          <a:xfrm xmlns:a="http://schemas.openxmlformats.org/drawingml/2006/main">
            <a:off x="15859125" y="6172200"/>
            <a:ext cx="133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86F68"/>
                </a:solidFill>
                <a:latin typeface="Open Sauce"/>
                <a:ea typeface="Open Sauce"/>
                <a:cs typeface="Open Sauce"/>
              </a:defRPr>
            </a:pPr>
            <a:r>
              <a:rPr sz="1875" b="0">
                <a:solidFill>
                  <a:srgbClr val="086F68"/>
                </a:solidFill>
                <a:latin typeface="Open Sauce"/>
                <a:ea typeface="Open Sauce"/>
                <a:cs typeface="Open Sauce"/>
              </a:rPr>
              <a:t>Direct</a:t>
            </a:r>
          </a:p>
          <a:p xmlns:a="http://schemas.openxmlformats.org/drawingml/2006/main">
            <a:pPr algn="l">
              <a:defRPr sz="1875" b="0">
                <a:solidFill>
                  <a:srgbClr val="086F68"/>
                </a:solidFill>
                <a:latin typeface="Open Sauce"/>
                <a:ea typeface="Open Sauce"/>
                <a:cs typeface="Open Sauce"/>
              </a:defRPr>
            </a:pPr>
            <a:r>
              <a:rPr sz="1875" b="0">
                <a:solidFill>
                  <a:srgbClr val="086F68"/>
                </a:solidFill>
                <a:latin typeface="Open Sauce"/>
                <a:ea typeface="Open Sauce"/>
                <a:cs typeface="Open Sauce"/>
              </a:rPr>
              <a:t>RPC</a:t>
            </a:r>
          </a:p>
        </p:txBody>
      </p:sp>
      <p:sp>
        <p:nvSpPr>
          <p:cNvPr id="34" name="bundle">
            <a:extLst xmlns:a="http://schemas.openxmlformats.org/drawingml/2006/main">
              <a:ext uri="{FF2B5EF4-FFF2-40B4-BE49-F238E27FC236}">
                <a16:creationId xmlns:a16="http://schemas.microsoft.com/office/drawing/2014/main" id="{9EE59E80-26F8-462C-B6D7-F27C6EB3ADBD}"/>
              </a:ext>
            </a:extLst>
          </p:cNvPr>
          <p:cNvSpPr>
            <a:spLocks xmlns:a="http://schemas.openxmlformats.org/drawingml/2006/main" noGrp="1"/>
          </p:cNvSpPr>
          <p:nvPr/>
        </p:nvSpPr>
        <p:spPr>
          <a:xfrm xmlns:a="http://schemas.openxmlformats.org/drawingml/2006/main">
            <a:off x="12649200" y="8001000"/>
            <a:ext cx="1276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086F68"/>
                </a:solidFill>
                <a:latin typeface="Open Sauce"/>
                <a:ea typeface="Open Sauce"/>
                <a:cs typeface="Open Sauce"/>
              </a:defRPr>
            </a:pPr>
            <a:r>
              <a:rPr sz="1725" b="0">
                <a:solidFill>
                  <a:srgbClr val="086F68"/>
                </a:solidFill>
                <a:latin typeface="Open Sauce"/>
                <a:ea typeface="Open Sauce"/>
                <a:cs typeface="Open Sauce"/>
              </a:rPr>
              <a:t>Selected</a:t>
            </a:r>
          </a:p>
          <a:p xmlns:a="http://schemas.openxmlformats.org/drawingml/2006/main">
            <a:pPr algn="ctr">
              <a:defRPr sz="1725" b="0">
                <a:solidFill>
                  <a:srgbClr val="086F68"/>
                </a:solidFill>
                <a:latin typeface="Open Sauce"/>
                <a:ea typeface="Open Sauce"/>
                <a:cs typeface="Open Sauce"/>
              </a:defRPr>
            </a:pPr>
            <a:r>
              <a:rPr sz="1725" b="0">
                <a:solidFill>
                  <a:srgbClr val="086F68"/>
                </a:solidFill>
                <a:latin typeface="Open Sauce"/>
                <a:ea typeface="Open Sauce"/>
                <a:cs typeface="Open Sauce"/>
              </a:rPr>
              <a:t>bundle</a:t>
            </a:r>
          </a:p>
        </p:txBody>
      </p:sp>
      <p:sp>
        <p:nvSpPr>
          <p:cNvPr id="35" name="flow-8-33">
            <a:extLst xmlns:a="http://schemas.openxmlformats.org/drawingml/2006/main">
              <a:ext uri="{FF2B5EF4-FFF2-40B4-BE49-F238E27FC236}">
                <a16:creationId xmlns:a16="http://schemas.microsoft.com/office/drawing/2014/main" id="{E8512350-7D5F-49A0-A033-FC175AED3F55}"/>
              </a:ext>
            </a:extLst>
          </p:cNvPr>
          <p:cNvSpPr>
            <a:spLocks xmlns:a="http://schemas.openxmlformats.org/drawingml/2006/main" noGrp="1"/>
          </p:cNvSpPr>
          <p:nvPr/>
        </p:nvSpPr>
        <p:spPr>
          <a:xfrm xmlns:a="http://schemas.openxmlformats.org/drawingml/2006/main">
            <a:off x="12501563" y="5138738"/>
            <a:ext cx="742950" cy="28575"/>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36" name="flow-8-34">
            <a:extLst xmlns:a="http://schemas.openxmlformats.org/drawingml/2006/main">
              <a:ext uri="{FF2B5EF4-FFF2-40B4-BE49-F238E27FC236}">
                <a16:creationId xmlns:a16="http://schemas.microsoft.com/office/drawing/2014/main" id="{27C12F98-D8EB-4C23-AC4E-9191D2F6769A}"/>
              </a:ext>
            </a:extLst>
          </p:cNvPr>
          <p:cNvSpPr>
            <a:spLocks xmlns:a="http://schemas.openxmlformats.org/drawingml/2006/main" noGrp="1"/>
          </p:cNvSpPr>
          <p:nvPr/>
        </p:nvSpPr>
        <p:spPr>
          <a:xfrm xmlns:a="http://schemas.openxmlformats.org/drawingml/2006/main">
            <a:off x="13244513" y="5138738"/>
            <a:ext cx="28575" cy="2495550"/>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37" name="flow-8-35">
            <a:extLst xmlns:a="http://schemas.openxmlformats.org/drawingml/2006/main">
              <a:ext uri="{FF2B5EF4-FFF2-40B4-BE49-F238E27FC236}">
                <a16:creationId xmlns:a16="http://schemas.microsoft.com/office/drawing/2014/main" id="{4A2F1CA5-1BC7-4FBF-99F9-881564809DA6}"/>
              </a:ext>
            </a:extLst>
          </p:cNvPr>
          <p:cNvSpPr>
            <a:spLocks xmlns:a="http://schemas.openxmlformats.org/drawingml/2006/main" noGrp="1"/>
          </p:cNvSpPr>
          <p:nvPr/>
        </p:nvSpPr>
        <p:spPr>
          <a:xfrm xmlns:a="http://schemas.openxmlformats.org/drawingml/2006/main">
            <a:off x="13244513" y="7634288"/>
            <a:ext cx="552450" cy="28575"/>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38" name="flow-8-36">
            <a:extLst xmlns:a="http://schemas.openxmlformats.org/drawingml/2006/main">
              <a:ext uri="{FF2B5EF4-FFF2-40B4-BE49-F238E27FC236}">
                <a16:creationId xmlns:a16="http://schemas.microsoft.com/office/drawing/2014/main" id="{EA296BAB-EDB3-4520-A163-D6889E786B37}"/>
              </a:ext>
            </a:extLst>
          </p:cNvPr>
          <p:cNvSpPr>
            <a:spLocks xmlns:a="http://schemas.openxmlformats.org/drawingml/2006/main" noGrp="1"/>
          </p:cNvSpPr>
          <p:nvPr/>
        </p:nvSpPr>
        <p:spPr>
          <a:xfrm xmlns:a="http://schemas.openxmlformats.org/drawingml/2006/main">
            <a:off x="13763625" y="7572375"/>
            <a:ext cx="209550" cy="152400"/>
          </a:xfrm>
          <a:prstGeom xmlns:a="http://schemas.openxmlformats.org/drawingml/2006/main" prst="rightArrow">
            <a:avLst/>
          </a:prstGeom>
          <a:solidFill xmlns:a="http://schemas.openxmlformats.org/drawingml/2006/main">
            <a:srgbClr val="086F68"/>
          </a:solidFill>
          <a:ln xmlns:a="http://schemas.openxmlformats.org/drawingml/2006/main" w="0">
            <a:noFill/>
          </a:ln>
        </p:spPr>
      </p:sp>
      <p:sp>
        <p:nvSpPr>
          <p:cNvPr id="39" name="pin-origin">
            <a:extLst xmlns:a="http://schemas.openxmlformats.org/drawingml/2006/main">
              <a:ext uri="{FF2B5EF4-FFF2-40B4-BE49-F238E27FC236}">
                <a16:creationId xmlns:a16="http://schemas.microsoft.com/office/drawing/2014/main" id="{A771D258-63A2-4BEB-90EC-5E2177D8046B}"/>
              </a:ext>
            </a:extLst>
          </p:cNvPr>
          <p:cNvSpPr>
            <a:spLocks xmlns:a="http://schemas.openxmlformats.org/drawingml/2006/main" noGrp="1"/>
          </p:cNvSpPr>
          <p:nvPr/>
        </p:nvSpPr>
        <p:spPr>
          <a:xfrm xmlns:a="http://schemas.openxmlformats.org/drawingml/2006/main">
            <a:off x="11172825" y="8724900"/>
            <a:ext cx="6086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025" b="1">
                <a:solidFill>
                  <a:srgbClr val="086F68"/>
                </a:solidFill>
                <a:latin typeface="Open Sauce"/>
                <a:ea typeface="Open Sauce"/>
                <a:cs typeface="Open Sauce"/>
              </a:defRPr>
            </a:pPr>
            <a:r>
              <a:rPr sz="2025" b="1">
                <a:solidFill>
                  <a:srgbClr val="086F68"/>
                </a:solidFill>
                <a:latin typeface="Open Sauce"/>
                <a:ea typeface="Open Sauce"/>
                <a:cs typeface="Open Sauce"/>
              </a:rPr>
              <a:t>Separate local deployment pins → verifier</a:t>
            </a:r>
          </a:p>
        </p:txBody>
      </p:sp>
      <p:sp>
        <p:nvSpPr>
          <p:cNvPr id="40" name="stack">
            <a:extLst xmlns:a="http://schemas.openxmlformats.org/drawingml/2006/main">
              <a:ext uri="{FF2B5EF4-FFF2-40B4-BE49-F238E27FC236}">
                <a16:creationId xmlns:a16="http://schemas.microsoft.com/office/drawing/2014/main" id="{CEAE79DB-1C53-42C6-8F55-6BC06465ED50}"/>
              </a:ext>
            </a:extLst>
          </p:cNvPr>
          <p:cNvSpPr>
            <a:spLocks xmlns:a="http://schemas.openxmlformats.org/drawingml/2006/main" noGrp="1"/>
          </p:cNvSpPr>
          <p:nvPr/>
        </p:nvSpPr>
        <p:spPr>
          <a:xfrm xmlns:a="http://schemas.openxmlformats.org/drawingml/2006/main">
            <a:off x="1028700" y="9201150"/>
            <a:ext cx="16230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767"/>
                </a:solidFill>
                <a:latin typeface="Open Sauce"/>
                <a:ea typeface="Open Sauce"/>
                <a:cs typeface="Open Sauce"/>
              </a:defRPr>
            </a:pPr>
            <a:r>
              <a:rPr sz="2025" b="0">
                <a:solidFill>
                  <a:srgbClr val="526767"/>
                </a:solidFill>
                <a:latin typeface="Open Sauce"/>
                <a:ea typeface="Open Sauce"/>
                <a:cs typeface="Open Sauce"/>
              </a:rPr>
              <a:t>Java 17 · Spring Boot · Django · PostgreSQL · Solidity 0.8.19 · Web3j · ethers</a:t>
            </a:r>
          </a:p>
        </p:txBody>
      </p:sp>
    </p:spTree>
    <p:extLst>
      <p:ext uri="{BB962C8B-B14F-4D97-AF65-F5344CB8AC3E}">
        <p14:creationId xmlns:p14="http://schemas.microsoft.com/office/powerpoint/2010/main" val="919344399"/>
      </p:ext>
    </p:extLst>
  </p:cSld>
</p:sld>
</file>

<file path=ppt/slides/slide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FE849686-DE6C-45A5-A76F-4019E9CE570F}"/>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ac3101aedea64e63"/>
            <a:stretch>
              <a:fillRect l="-7181" t="-19076" r="-3000" b="-11427"/>
            </a:stretch>
          </a:blipFill>
        </p:spPr>
      </p:sp>
      <p:sp>
        <p:nvSpPr>
          <p:cNvPr id="3" name="section-title">
            <a:extLst xmlns:a="http://schemas.openxmlformats.org/drawingml/2006/main">
              <a:ext uri="{FF2B5EF4-FFF2-40B4-BE49-F238E27FC236}">
                <a16:creationId xmlns:a16="http://schemas.microsoft.com/office/drawing/2014/main" id="{1CB2706E-F535-4E57-832F-619AD3444B55}"/>
              </a:ext>
            </a:extLst>
          </p:cNvPr>
          <p:cNvSpPr>
            <a:spLocks xmlns:a="http://schemas.openxmlformats.org/drawingml/2006/main" noGrp="1"/>
          </p:cNvSpPr>
          <p:nvPr/>
        </p:nvSpPr>
        <p:spPr>
          <a:xfrm xmlns:a="http://schemas.openxmlformats.org/drawingml/2006/main">
            <a:off x="1028700" y="723900"/>
            <a:ext cx="16049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75" b="0">
                <a:solidFill>
                  <a:srgbClr val="183B3A"/>
                </a:solidFill>
                <a:latin typeface="Times New Roman MT Condensed"/>
                <a:ea typeface="Times New Roman MT Condensed"/>
                <a:cs typeface="Times New Roman MT Condensed"/>
              </a:defRPr>
            </a:pPr>
            <a:r>
              <a:rPr sz="7875" b="0">
                <a:solidFill>
                  <a:srgbClr val="183B3A"/>
                </a:solidFill>
                <a:latin typeface="Times New Roman MT Condensed"/>
                <a:ea typeface="Times New Roman MT Condensed"/>
                <a:cs typeface="Times New Roman MT Condensed"/>
              </a:rPr>
              <a:t>Proof, provenance &amp; trust</a:t>
            </a:r>
          </a:p>
        </p:txBody>
      </p:sp>
      <p:sp>
        <p:nvSpPr>
          <p:cNvPr id="4" name="header-rule">
            <a:extLst xmlns:a="http://schemas.openxmlformats.org/drawingml/2006/main">
              <a:ext uri="{FF2B5EF4-FFF2-40B4-BE49-F238E27FC236}">
                <a16:creationId xmlns:a16="http://schemas.microsoft.com/office/drawing/2014/main" id="{CD6742D8-6EA1-4B5C-8BDC-C6571FD7D8EC}"/>
              </a:ext>
            </a:extLst>
          </p:cNvPr>
          <p:cNvSpPr>
            <a:spLocks xmlns:a="http://schemas.openxmlformats.org/drawingml/2006/main" noGrp="1"/>
          </p:cNvSpPr>
          <p:nvPr/>
        </p:nvSpPr>
        <p:spPr>
          <a:xfrm xmlns:a="http://schemas.openxmlformats.org/drawingml/2006/main">
            <a:off x="1028700" y="2419350"/>
            <a:ext cx="16230600" cy="0"/>
          </a:xfrm>
          <a:prstGeom xmlns:a="http://schemas.openxmlformats.org/drawingml/2006/main" prst="line">
            <a:avLst/>
          </a:prstGeom>
          <a:ln xmlns:a="http://schemas.openxmlformats.org/drawingml/2006/main" w="28575">
            <a:solidFill>
              <a:srgbClr val="086F68"/>
            </a:solidFill>
          </a:ln>
        </p:spPr>
      </p:sp>
      <p:sp>
        <p:nvSpPr>
          <p:cNvPr id="5" name="footer">
            <a:extLst xmlns:a="http://schemas.openxmlformats.org/drawingml/2006/main">
              <a:ext uri="{FF2B5EF4-FFF2-40B4-BE49-F238E27FC236}">
                <a16:creationId xmlns:a16="http://schemas.microsoft.com/office/drawing/2014/main" id="{2A490D71-5907-4643-9245-7EECC8BFD95D}"/>
              </a:ext>
            </a:extLst>
          </p:cNvPr>
          <p:cNvSpPr>
            <a:spLocks xmlns:a="http://schemas.openxmlformats.org/drawingml/2006/main" noGrp="1"/>
          </p:cNvSpPr>
          <p:nvPr/>
        </p:nvSpPr>
        <p:spPr>
          <a:xfrm xmlns:a="http://schemas.openxmlformats.org/drawingml/2006/main">
            <a:off x="1028700" y="9734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67"/>
                </a:solidFill>
                <a:latin typeface="Open Sauce"/>
                <a:ea typeface="Open Sauce"/>
                <a:cs typeface="Open Sauce"/>
              </a:defRPr>
            </a:pPr>
            <a:r>
              <a:rPr sz="1650" b="0">
                <a:solidFill>
                  <a:srgbClr val="526767"/>
                </a:solidFill>
                <a:latin typeface="Open Sauce"/>
                <a:ea typeface="Open Sauce"/>
                <a:cs typeface="Open Sauce"/>
              </a:rPr>
              <a:t>Foliolet  /  HackSprint PS32</a:t>
            </a:r>
          </a:p>
        </p:txBody>
      </p:sp>
      <p:sp>
        <p:nvSpPr>
          <p:cNvPr id="6" name="page">
            <a:extLst xmlns:a="http://schemas.openxmlformats.org/drawingml/2006/main">
              <a:ext uri="{FF2B5EF4-FFF2-40B4-BE49-F238E27FC236}">
                <a16:creationId xmlns:a16="http://schemas.microsoft.com/office/drawing/2014/main" id="{376F832F-EE7C-409F-B666-B5073278A38A}"/>
              </a:ext>
            </a:extLst>
          </p:cNvPr>
          <p:cNvSpPr>
            <a:spLocks xmlns:a="http://schemas.openxmlformats.org/drawingml/2006/main" noGrp="1"/>
          </p:cNvSpPr>
          <p:nvPr/>
        </p:nvSpPr>
        <p:spPr>
          <a:xfrm xmlns:a="http://schemas.openxmlformats.org/drawingml/2006/main">
            <a:off x="16459200" y="973455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26767"/>
                </a:solidFill>
                <a:latin typeface="Open Sauce"/>
                <a:ea typeface="Open Sauce"/>
                <a:cs typeface="Open Sauce"/>
              </a:defRPr>
            </a:pPr>
            <a:r>
              <a:rPr sz="1650" b="0">
                <a:solidFill>
                  <a:srgbClr val="526767"/>
                </a:solidFill>
                <a:latin typeface="Open Sauce"/>
                <a:ea typeface="Open Sauce"/>
                <a:cs typeface="Open Sauce"/>
              </a:rPr>
              <a:t>04</a:t>
            </a:r>
          </a:p>
        </p:txBody>
      </p:sp>
      <p:sp>
        <p:nvSpPr>
          <p:cNvPr id="7" name="trust-summary">
            <a:extLst xmlns:a="http://schemas.openxmlformats.org/drawingml/2006/main">
              <a:ext uri="{FF2B5EF4-FFF2-40B4-BE49-F238E27FC236}">
                <a16:creationId xmlns:a16="http://schemas.microsoft.com/office/drawing/2014/main" id="{016C9B1C-B7EC-4BFF-96F2-592F3CAF68D3}"/>
              </a:ext>
            </a:extLst>
          </p:cNvPr>
          <p:cNvSpPr>
            <a:spLocks xmlns:a="http://schemas.openxmlformats.org/drawingml/2006/main" noGrp="1"/>
          </p:cNvSpPr>
          <p:nvPr/>
        </p:nvSpPr>
        <p:spPr>
          <a:xfrm xmlns:a="http://schemas.openxmlformats.org/drawingml/2006/main">
            <a:off x="1028700" y="2809875"/>
            <a:ext cx="1623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B3A"/>
                </a:solidFill>
                <a:latin typeface="Open Sauce"/>
                <a:ea typeface="Open Sauce"/>
                <a:cs typeface="Open Sauce"/>
              </a:defRPr>
            </a:pPr>
            <a:r>
              <a:rPr sz="3600" b="1">
                <a:solidFill>
                  <a:srgbClr val="183B3A"/>
                </a:solidFill>
                <a:latin typeface="Open Sauce"/>
                <a:ea typeface="Open Sauce"/>
                <a:cs typeface="Open Sauce"/>
              </a:rPr>
              <a:t>A valid proof is not automatically an authentic document.</a:t>
            </a:r>
          </a:p>
        </p:txBody>
      </p:sp>
      <p:sp>
        <p:nvSpPr>
          <p:cNvPr id="8" name="signal-heading">
            <a:extLst xmlns:a="http://schemas.openxmlformats.org/drawingml/2006/main">
              <a:ext uri="{FF2B5EF4-FFF2-40B4-BE49-F238E27FC236}">
                <a16:creationId xmlns:a16="http://schemas.microsoft.com/office/drawing/2014/main" id="{6249B607-5182-4D16-841B-03398A381213}"/>
              </a:ext>
            </a:extLst>
          </p:cNvPr>
          <p:cNvSpPr>
            <a:spLocks xmlns:a="http://schemas.openxmlformats.org/drawingml/2006/main" noGrp="1"/>
          </p:cNvSpPr>
          <p:nvPr/>
        </p:nvSpPr>
        <p:spPr>
          <a:xfrm xmlns:a="http://schemas.openxmlformats.org/drawingml/2006/main">
            <a:off x="1028700" y="38957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526767"/>
                </a:solidFill>
                <a:latin typeface="Open Sauce"/>
                <a:ea typeface="Open Sauce"/>
                <a:cs typeface="Open Sauce"/>
              </a:defRPr>
            </a:pPr>
            <a:r>
              <a:rPr sz="1875" b="1">
                <a:solidFill>
                  <a:srgbClr val="526767"/>
                </a:solidFill>
                <a:latin typeface="Open Sauce"/>
                <a:ea typeface="Open Sauce"/>
                <a:cs typeface="Open Sauce"/>
              </a:rPr>
              <a:t>SIGNAL</a:t>
            </a:r>
          </a:p>
        </p:txBody>
      </p:sp>
      <p:sp>
        <p:nvSpPr>
          <p:cNvPr id="9" name="establishes-heading">
            <a:extLst xmlns:a="http://schemas.openxmlformats.org/drawingml/2006/main">
              <a:ext uri="{FF2B5EF4-FFF2-40B4-BE49-F238E27FC236}">
                <a16:creationId xmlns:a16="http://schemas.microsoft.com/office/drawing/2014/main" id="{CBE75975-9188-40CB-8D43-5EBD2650F1C3}"/>
              </a:ext>
            </a:extLst>
          </p:cNvPr>
          <p:cNvSpPr>
            <a:spLocks xmlns:a="http://schemas.openxmlformats.org/drawingml/2006/main" noGrp="1"/>
          </p:cNvSpPr>
          <p:nvPr/>
        </p:nvSpPr>
        <p:spPr>
          <a:xfrm xmlns:a="http://schemas.openxmlformats.org/drawingml/2006/main">
            <a:off x="5391150" y="3895725"/>
            <a:ext cx="6200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526767"/>
                </a:solidFill>
                <a:latin typeface="Open Sauce"/>
                <a:ea typeface="Open Sauce"/>
                <a:cs typeface="Open Sauce"/>
              </a:defRPr>
            </a:pPr>
            <a:r>
              <a:rPr sz="1875" b="1">
                <a:solidFill>
                  <a:srgbClr val="526767"/>
                </a:solidFill>
                <a:latin typeface="Open Sauce"/>
                <a:ea typeface="Open Sauce"/>
                <a:cs typeface="Open Sauce"/>
              </a:rPr>
              <a:t>WHAT IT ESTABLISHES</a:t>
            </a:r>
          </a:p>
        </p:txBody>
      </p:sp>
      <p:sp>
        <p:nvSpPr>
          <p:cNvPr id="10" name="boundary-heading">
            <a:extLst xmlns:a="http://schemas.openxmlformats.org/drawingml/2006/main">
              <a:ext uri="{FF2B5EF4-FFF2-40B4-BE49-F238E27FC236}">
                <a16:creationId xmlns:a16="http://schemas.microsoft.com/office/drawing/2014/main" id="{15531B59-1A9E-4EA4-A222-4E1BE941580F}"/>
              </a:ext>
            </a:extLst>
          </p:cNvPr>
          <p:cNvSpPr>
            <a:spLocks xmlns:a="http://schemas.openxmlformats.org/drawingml/2006/main" noGrp="1"/>
          </p:cNvSpPr>
          <p:nvPr/>
        </p:nvSpPr>
        <p:spPr>
          <a:xfrm xmlns:a="http://schemas.openxmlformats.org/drawingml/2006/main">
            <a:off x="12192000" y="3895725"/>
            <a:ext cx="5067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526767"/>
                </a:solidFill>
                <a:latin typeface="Open Sauce"/>
                <a:ea typeface="Open Sauce"/>
                <a:cs typeface="Open Sauce"/>
              </a:defRPr>
            </a:pPr>
            <a:r>
              <a:rPr sz="1875" b="1">
                <a:solidFill>
                  <a:srgbClr val="526767"/>
                </a:solidFill>
                <a:latin typeface="Open Sauce"/>
                <a:ea typeface="Open Sauce"/>
                <a:cs typeface="Open Sauce"/>
              </a:rPr>
              <a:t>BOUNDARY</a:t>
            </a:r>
          </a:p>
        </p:txBody>
      </p:sp>
      <p:sp>
        <p:nvSpPr>
          <p:cNvPr id="11" name="row-rule-0">
            <a:extLst xmlns:a="http://schemas.openxmlformats.org/drawingml/2006/main">
              <a:ext uri="{FF2B5EF4-FFF2-40B4-BE49-F238E27FC236}">
                <a16:creationId xmlns:a16="http://schemas.microsoft.com/office/drawing/2014/main" id="{4E5F8C6F-34FA-42C1-9CCC-5B98BD9DBC9F}"/>
              </a:ext>
            </a:extLst>
          </p:cNvPr>
          <p:cNvSpPr>
            <a:spLocks xmlns:a="http://schemas.openxmlformats.org/drawingml/2006/main" noGrp="1"/>
          </p:cNvSpPr>
          <p:nvPr/>
        </p:nvSpPr>
        <p:spPr>
          <a:xfrm xmlns:a="http://schemas.openxmlformats.org/drawingml/2006/main">
            <a:off x="1028700" y="4381500"/>
            <a:ext cx="16230600" cy="0"/>
          </a:xfrm>
          <a:prstGeom xmlns:a="http://schemas.openxmlformats.org/drawingml/2006/main" prst="line">
            <a:avLst/>
          </a:prstGeom>
          <a:ln xmlns:a="http://schemas.openxmlformats.org/drawingml/2006/main" w="19050">
            <a:solidFill>
              <a:srgbClr val="A8BFBA"/>
            </a:solidFill>
          </a:ln>
        </p:spPr>
      </p:sp>
      <p:sp>
        <p:nvSpPr>
          <p:cNvPr id="12" name="signal-0">
            <a:extLst xmlns:a="http://schemas.openxmlformats.org/drawingml/2006/main">
              <a:ext uri="{FF2B5EF4-FFF2-40B4-BE49-F238E27FC236}">
                <a16:creationId xmlns:a16="http://schemas.microsoft.com/office/drawing/2014/main" id="{F883AE66-ED73-4183-9166-97985221A7A6}"/>
              </a:ext>
            </a:extLst>
          </p:cNvPr>
          <p:cNvSpPr>
            <a:spLocks xmlns:a="http://schemas.openxmlformats.org/drawingml/2006/main" noGrp="1"/>
          </p:cNvSpPr>
          <p:nvPr/>
        </p:nvSpPr>
        <p:spPr>
          <a:xfrm xmlns:a="http://schemas.openxmlformats.org/drawingml/2006/main">
            <a:off x="1028700" y="4533900"/>
            <a:ext cx="3886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B3A"/>
                </a:solidFill>
                <a:latin typeface="Open Sauce"/>
                <a:ea typeface="Open Sauce"/>
                <a:cs typeface="Open Sauce"/>
              </a:defRPr>
            </a:pPr>
            <a:r>
              <a:rPr sz="2625" b="1">
                <a:solidFill>
                  <a:srgbClr val="183B3A"/>
                </a:solidFill>
                <a:latin typeface="Open Sauce"/>
                <a:ea typeface="Open Sauce"/>
                <a:cs typeface="Open Sauce"/>
              </a:rPr>
              <a:t>Cryptographic proof</a:t>
            </a:r>
          </a:p>
        </p:txBody>
      </p:sp>
      <p:sp>
        <p:nvSpPr>
          <p:cNvPr id="13" name="meaning-0">
            <a:extLst xmlns:a="http://schemas.openxmlformats.org/drawingml/2006/main">
              <a:ext uri="{FF2B5EF4-FFF2-40B4-BE49-F238E27FC236}">
                <a16:creationId xmlns:a16="http://schemas.microsoft.com/office/drawing/2014/main" id="{3E851351-09B8-4757-829E-57455473F336}"/>
              </a:ext>
            </a:extLst>
          </p:cNvPr>
          <p:cNvSpPr>
            <a:spLocks xmlns:a="http://schemas.openxmlformats.org/drawingml/2006/main" noGrp="1"/>
          </p:cNvSpPr>
          <p:nvPr/>
        </p:nvSpPr>
        <p:spPr>
          <a:xfrm xmlns:a="http://schemas.openxmlformats.org/drawingml/2006/main">
            <a:off x="5391150" y="4533900"/>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B3A"/>
                </a:solidFill>
                <a:latin typeface="Open Sauce"/>
                <a:ea typeface="Open Sauce"/>
                <a:cs typeface="Open Sauce"/>
              </a:defRPr>
            </a:pPr>
            <a:r>
              <a:rPr sz="2550" b="0">
                <a:solidFill>
                  <a:srgbClr val="183B3A"/>
                </a:solidFill>
                <a:latin typeface="Open Sauce"/>
                <a:ea typeface="Open Sauce"/>
                <a:cs typeface="Open Sauce"/>
              </a:rPr>
              <a:t>Membership, signed context</a:t>
            </a:r>
          </a:p>
          <a:p xmlns:a="http://schemas.openxmlformats.org/drawingml/2006/main">
            <a:pPr algn="l">
              <a:defRPr sz="2550" b="0">
                <a:solidFill>
                  <a:srgbClr val="183B3A"/>
                </a:solidFill>
                <a:latin typeface="Open Sauce"/>
                <a:ea typeface="Open Sauce"/>
                <a:cs typeface="Open Sauce"/>
              </a:defRPr>
            </a:pPr>
            <a:r>
              <a:rPr sz="2550" b="0">
                <a:solidFill>
                  <a:srgbClr val="183B3A"/>
                </a:solidFill>
                <a:latin typeface="Open Sauce"/>
                <a:ea typeface="Open Sauce"/>
                <a:cs typeface="Open Sauce"/>
              </a:rPr>
              <a:t>and active pinned credential</a:t>
            </a:r>
          </a:p>
        </p:txBody>
      </p:sp>
      <p:sp>
        <p:nvSpPr>
          <p:cNvPr id="14" name="boundary-0">
            <a:extLst xmlns:a="http://schemas.openxmlformats.org/drawingml/2006/main">
              <a:ext uri="{FF2B5EF4-FFF2-40B4-BE49-F238E27FC236}">
                <a16:creationId xmlns:a16="http://schemas.microsoft.com/office/drawing/2014/main" id="{5046304D-F69D-4989-8736-21840FA039AF}"/>
              </a:ext>
            </a:extLst>
          </p:cNvPr>
          <p:cNvSpPr>
            <a:spLocks xmlns:a="http://schemas.openxmlformats.org/drawingml/2006/main" noGrp="1"/>
          </p:cNvSpPr>
          <p:nvPr/>
        </p:nvSpPr>
        <p:spPr>
          <a:xfrm xmlns:a="http://schemas.openxmlformats.org/drawingml/2006/main">
            <a:off x="12192000" y="4533900"/>
            <a:ext cx="5067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526767"/>
                </a:solidFill>
                <a:latin typeface="Open Sauce"/>
                <a:ea typeface="Open Sauce"/>
                <a:cs typeface="Open Sauce"/>
              </a:defRPr>
            </a:pPr>
            <a:r>
              <a:rPr sz="2475" b="0">
                <a:solidFill>
                  <a:srgbClr val="526767"/>
                </a:solidFill>
                <a:latin typeface="Open Sauce"/>
                <a:ea typeface="Open Sauce"/>
                <a:cs typeface="Open Sauce"/>
              </a:rPr>
              <a:t>No issuer truth or</a:t>
            </a:r>
          </a:p>
          <a:p xmlns:a="http://schemas.openxmlformats.org/drawingml/2006/main">
            <a:pPr algn="l">
              <a:defRPr sz="2475" b="0">
                <a:solidFill>
                  <a:srgbClr val="526767"/>
                </a:solidFill>
                <a:latin typeface="Open Sauce"/>
                <a:ea typeface="Open Sauce"/>
                <a:cs typeface="Open Sauce"/>
              </a:defRPr>
            </a:pPr>
            <a:r>
              <a:rPr sz="2475" b="0">
                <a:solidFill>
                  <a:srgbClr val="526767"/>
                </a:solidFill>
                <a:latin typeface="Open Sauce"/>
                <a:ea typeface="Open Sauce"/>
                <a:cs typeface="Open Sauce"/>
              </a:rPr>
              <a:t>faithful extraction</a:t>
            </a:r>
          </a:p>
        </p:txBody>
      </p:sp>
      <p:sp>
        <p:nvSpPr>
          <p:cNvPr id="15" name="row-rule-1">
            <a:extLst xmlns:a="http://schemas.openxmlformats.org/drawingml/2006/main">
              <a:ext uri="{FF2B5EF4-FFF2-40B4-BE49-F238E27FC236}">
                <a16:creationId xmlns:a16="http://schemas.microsoft.com/office/drawing/2014/main" id="{064ADE7F-8079-4891-B343-C39A53066ED8}"/>
              </a:ext>
            </a:extLst>
          </p:cNvPr>
          <p:cNvSpPr>
            <a:spLocks xmlns:a="http://schemas.openxmlformats.org/drawingml/2006/main" noGrp="1"/>
          </p:cNvSpPr>
          <p:nvPr/>
        </p:nvSpPr>
        <p:spPr>
          <a:xfrm xmlns:a="http://schemas.openxmlformats.org/drawingml/2006/main">
            <a:off x="1028700" y="5715000"/>
            <a:ext cx="16230600" cy="0"/>
          </a:xfrm>
          <a:prstGeom xmlns:a="http://schemas.openxmlformats.org/drawingml/2006/main" prst="line">
            <a:avLst/>
          </a:prstGeom>
          <a:ln xmlns:a="http://schemas.openxmlformats.org/drawingml/2006/main" w="19050">
            <a:solidFill>
              <a:srgbClr val="A8BFBA"/>
            </a:solidFill>
          </a:ln>
        </p:spPr>
      </p:sp>
      <p:sp>
        <p:nvSpPr>
          <p:cNvPr id="16" name="signal-1">
            <a:extLst xmlns:a="http://schemas.openxmlformats.org/drawingml/2006/main">
              <a:ext uri="{FF2B5EF4-FFF2-40B4-BE49-F238E27FC236}">
                <a16:creationId xmlns:a16="http://schemas.microsoft.com/office/drawing/2014/main" id="{CE470C0E-BB3E-45EE-A7AC-BCE5FBA1BE45}"/>
              </a:ext>
            </a:extLst>
          </p:cNvPr>
          <p:cNvSpPr>
            <a:spLocks xmlns:a="http://schemas.openxmlformats.org/drawingml/2006/main" noGrp="1"/>
          </p:cNvSpPr>
          <p:nvPr/>
        </p:nvSpPr>
        <p:spPr>
          <a:xfrm xmlns:a="http://schemas.openxmlformats.org/drawingml/2006/main">
            <a:off x="1028700" y="5867400"/>
            <a:ext cx="3886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B3A"/>
                </a:solidFill>
                <a:latin typeface="Open Sauce"/>
                <a:ea typeface="Open Sauce"/>
                <a:cs typeface="Open Sauce"/>
              </a:defRPr>
            </a:pPr>
            <a:r>
              <a:rPr sz="2625" b="1">
                <a:solidFill>
                  <a:srgbClr val="183B3A"/>
                </a:solidFill>
                <a:latin typeface="Open Sauce"/>
                <a:ea typeface="Open Sauce"/>
                <a:cs typeface="Open Sauce"/>
              </a:rPr>
              <a:t>Self-enrolled</a:t>
            </a:r>
          </a:p>
        </p:txBody>
      </p:sp>
      <p:sp>
        <p:nvSpPr>
          <p:cNvPr id="17" name="meaning-1">
            <a:extLst xmlns:a="http://schemas.openxmlformats.org/drawingml/2006/main">
              <a:ext uri="{FF2B5EF4-FFF2-40B4-BE49-F238E27FC236}">
                <a16:creationId xmlns:a16="http://schemas.microsoft.com/office/drawing/2014/main" id="{2D77BDE6-342B-4A09-9498-CF07C813BEE0}"/>
              </a:ext>
            </a:extLst>
          </p:cNvPr>
          <p:cNvSpPr>
            <a:spLocks xmlns:a="http://schemas.openxmlformats.org/drawingml/2006/main" noGrp="1"/>
          </p:cNvSpPr>
          <p:nvPr/>
        </p:nvSpPr>
        <p:spPr>
          <a:xfrm xmlns:a="http://schemas.openxmlformats.org/drawingml/2006/main">
            <a:off x="5391150" y="5867400"/>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B3A"/>
                </a:solidFill>
                <a:latin typeface="Open Sauce"/>
                <a:ea typeface="Open Sauce"/>
                <a:cs typeface="Open Sauce"/>
              </a:defRPr>
            </a:pPr>
            <a:r>
              <a:rPr sz="2550" b="0">
                <a:solidFill>
                  <a:srgbClr val="183B3A"/>
                </a:solidFill>
                <a:latin typeface="Open Sauce"/>
                <a:ea typeface="Open Sauce"/>
                <a:cs typeface="Open Sauce"/>
              </a:rPr>
              <a:t>Facts reviewed and confirmed</a:t>
            </a:r>
          </a:p>
          <a:p xmlns:a="http://schemas.openxmlformats.org/drawingml/2006/main">
            <a:pPr algn="l">
              <a:defRPr sz="2550" b="0">
                <a:solidFill>
                  <a:srgbClr val="183B3A"/>
                </a:solidFill>
                <a:latin typeface="Open Sauce"/>
                <a:ea typeface="Open Sauce"/>
                <a:cs typeface="Open Sauce"/>
              </a:defRPr>
            </a:pPr>
            <a:r>
              <a:rPr sz="2550" b="0">
                <a:solidFill>
                  <a:srgbClr val="183B3A"/>
                </a:solidFill>
                <a:latin typeface="Open Sauce"/>
                <a:ea typeface="Open Sauce"/>
                <a:cs typeface="Open Sauce"/>
              </a:rPr>
              <a:t>by the holder</a:t>
            </a:r>
          </a:p>
        </p:txBody>
      </p:sp>
      <p:sp>
        <p:nvSpPr>
          <p:cNvPr id="18" name="boundary-1">
            <a:extLst xmlns:a="http://schemas.openxmlformats.org/drawingml/2006/main">
              <a:ext uri="{FF2B5EF4-FFF2-40B4-BE49-F238E27FC236}">
                <a16:creationId xmlns:a16="http://schemas.microsoft.com/office/drawing/2014/main" id="{8853C8C8-44A7-4B84-B80D-C6118B5E0FF7}"/>
              </a:ext>
            </a:extLst>
          </p:cNvPr>
          <p:cNvSpPr>
            <a:spLocks xmlns:a="http://schemas.openxmlformats.org/drawingml/2006/main" noGrp="1"/>
          </p:cNvSpPr>
          <p:nvPr/>
        </p:nvSpPr>
        <p:spPr>
          <a:xfrm xmlns:a="http://schemas.openxmlformats.org/drawingml/2006/main">
            <a:off x="12192000" y="5867400"/>
            <a:ext cx="5067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526767"/>
                </a:solidFill>
                <a:latin typeface="Open Sauce"/>
                <a:ea typeface="Open Sauce"/>
                <a:cs typeface="Open Sauce"/>
              </a:defRPr>
            </a:pPr>
            <a:r>
              <a:rPr sz="2475" b="0">
                <a:solidFill>
                  <a:srgbClr val="526767"/>
                </a:solidFill>
                <a:latin typeface="Open Sauce"/>
                <a:ea typeface="Open Sauce"/>
                <a:cs typeface="Open Sauce"/>
              </a:rPr>
              <a:t>Holder-authored</a:t>
            </a:r>
          </a:p>
          <a:p xmlns:a="http://schemas.openxmlformats.org/drawingml/2006/main">
            <a:pPr algn="l">
              <a:defRPr sz="2475" b="0">
                <a:solidFill>
                  <a:srgbClr val="526767"/>
                </a:solidFill>
                <a:latin typeface="Open Sauce"/>
                <a:ea typeface="Open Sauce"/>
                <a:cs typeface="Open Sauce"/>
              </a:defRPr>
            </a:pPr>
            <a:r>
              <a:rPr sz="2475" b="0">
                <a:solidFill>
                  <a:srgbClr val="526767"/>
                </a:solidFill>
                <a:latin typeface="Open Sauce"/>
                <a:ea typeface="Open Sauce"/>
                <a:cs typeface="Open Sauce"/>
              </a:rPr>
              <a:t>statements</a:t>
            </a:r>
          </a:p>
        </p:txBody>
      </p:sp>
      <p:sp>
        <p:nvSpPr>
          <p:cNvPr id="19" name="row-rule-2">
            <a:extLst xmlns:a="http://schemas.openxmlformats.org/drawingml/2006/main">
              <a:ext uri="{FF2B5EF4-FFF2-40B4-BE49-F238E27FC236}">
                <a16:creationId xmlns:a16="http://schemas.microsoft.com/office/drawing/2014/main" id="{F748BBEB-CE65-4FC7-B15A-32AE9850983C}"/>
              </a:ext>
            </a:extLst>
          </p:cNvPr>
          <p:cNvSpPr>
            <a:spLocks xmlns:a="http://schemas.openxmlformats.org/drawingml/2006/main" noGrp="1"/>
          </p:cNvSpPr>
          <p:nvPr/>
        </p:nvSpPr>
        <p:spPr>
          <a:xfrm xmlns:a="http://schemas.openxmlformats.org/drawingml/2006/main">
            <a:off x="1028700" y="7048500"/>
            <a:ext cx="16230600" cy="0"/>
          </a:xfrm>
          <a:prstGeom xmlns:a="http://schemas.openxmlformats.org/drawingml/2006/main" prst="line">
            <a:avLst/>
          </a:prstGeom>
          <a:ln xmlns:a="http://schemas.openxmlformats.org/drawingml/2006/main" w="19050">
            <a:solidFill>
              <a:srgbClr val="A8BFBA"/>
            </a:solidFill>
          </a:ln>
        </p:spPr>
      </p:sp>
      <p:sp>
        <p:nvSpPr>
          <p:cNvPr id="20" name="signal-2">
            <a:extLst xmlns:a="http://schemas.openxmlformats.org/drawingml/2006/main">
              <a:ext uri="{FF2B5EF4-FFF2-40B4-BE49-F238E27FC236}">
                <a16:creationId xmlns:a16="http://schemas.microsoft.com/office/drawing/2014/main" id="{59FB87B0-8B61-49D2-838E-2F33788AB84A}"/>
              </a:ext>
            </a:extLst>
          </p:cNvPr>
          <p:cNvSpPr>
            <a:spLocks xmlns:a="http://schemas.openxmlformats.org/drawingml/2006/main" noGrp="1"/>
          </p:cNvSpPr>
          <p:nvPr/>
        </p:nvSpPr>
        <p:spPr>
          <a:xfrm xmlns:a="http://schemas.openxmlformats.org/drawingml/2006/main">
            <a:off x="1028700" y="7200900"/>
            <a:ext cx="3886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B3A"/>
                </a:solidFill>
                <a:latin typeface="Open Sauce"/>
                <a:ea typeface="Open Sauce"/>
                <a:cs typeface="Open Sauce"/>
              </a:defRPr>
            </a:pPr>
            <a:r>
              <a:rPr sz="2625" b="1">
                <a:solidFill>
                  <a:srgbClr val="183B3A"/>
                </a:solidFill>
                <a:latin typeface="Open Sauce"/>
                <a:ea typeface="Open Sauce"/>
                <a:cs typeface="Open Sauce"/>
              </a:rPr>
              <a:t>First-seen tracked</a:t>
            </a:r>
          </a:p>
        </p:txBody>
      </p:sp>
      <p:sp>
        <p:nvSpPr>
          <p:cNvPr id="21" name="meaning-2">
            <a:extLst xmlns:a="http://schemas.openxmlformats.org/drawingml/2006/main">
              <a:ext uri="{FF2B5EF4-FFF2-40B4-BE49-F238E27FC236}">
                <a16:creationId xmlns:a16="http://schemas.microsoft.com/office/drawing/2014/main" id="{2177B12B-9587-49C7-8662-BD7202E91479}"/>
              </a:ext>
            </a:extLst>
          </p:cNvPr>
          <p:cNvSpPr>
            <a:spLocks xmlns:a="http://schemas.openxmlformats.org/drawingml/2006/main" noGrp="1"/>
          </p:cNvSpPr>
          <p:nvPr/>
        </p:nvSpPr>
        <p:spPr>
          <a:xfrm xmlns:a="http://schemas.openxmlformats.org/drawingml/2006/main">
            <a:off x="5391150" y="7200900"/>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B3A"/>
                </a:solidFill>
                <a:latin typeface="Open Sauce"/>
                <a:ea typeface="Open Sauce"/>
                <a:cs typeface="Open Sauce"/>
              </a:defRPr>
            </a:pPr>
            <a:r>
              <a:rPr sz="2550" b="0">
                <a:solidFill>
                  <a:srgbClr val="183B3A"/>
                </a:solidFill>
                <a:latin typeface="Open Sauce"/>
                <a:ea typeface="Open Sauce"/>
                <a:cs typeface="Open Sauce"/>
              </a:rPr>
              <a:t>Enrollment matches sampled</a:t>
            </a:r>
          </a:p>
          <a:p xmlns:a="http://schemas.openxmlformats.org/drawingml/2006/main">
            <a:pPr algn="l">
              <a:defRPr sz="2550" b="0">
                <a:solidFill>
                  <a:srgbClr val="183B3A"/>
                </a:solidFill>
                <a:latin typeface="Open Sauce"/>
                <a:ea typeface="Open Sauce"/>
                <a:cs typeface="Open Sauce"/>
              </a:defRPr>
            </a:pPr>
            <a:r>
              <a:rPr sz="2550" b="0">
                <a:solidFill>
                  <a:srgbClr val="183B3A"/>
                </a:solidFill>
                <a:latin typeface="Open Sauce"/>
                <a:ea typeface="Open Sauce"/>
                <a:cs typeface="Open Sauce"/>
              </a:rPr>
              <a:t>reports from a paired agent</a:t>
            </a:r>
          </a:p>
        </p:txBody>
      </p:sp>
      <p:sp>
        <p:nvSpPr>
          <p:cNvPr id="22" name="boundary-2">
            <a:extLst xmlns:a="http://schemas.openxmlformats.org/drawingml/2006/main">
              <a:ext uri="{FF2B5EF4-FFF2-40B4-BE49-F238E27FC236}">
                <a16:creationId xmlns:a16="http://schemas.microsoft.com/office/drawing/2014/main" id="{2B76C402-068F-4467-B82D-BC78D8F14210}"/>
              </a:ext>
            </a:extLst>
          </p:cNvPr>
          <p:cNvSpPr>
            <a:spLocks xmlns:a="http://schemas.openxmlformats.org/drawingml/2006/main" noGrp="1"/>
          </p:cNvSpPr>
          <p:nvPr/>
        </p:nvSpPr>
        <p:spPr>
          <a:xfrm xmlns:a="http://schemas.openxmlformats.org/drawingml/2006/main">
            <a:off x="12192000" y="7200900"/>
            <a:ext cx="5067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526767"/>
                </a:solidFill>
                <a:latin typeface="Open Sauce"/>
                <a:ea typeface="Open Sauce"/>
                <a:cs typeface="Open Sauce"/>
              </a:defRPr>
            </a:pPr>
            <a:r>
              <a:rPr sz="2475" b="0">
                <a:solidFill>
                  <a:srgbClr val="526767"/>
                </a:solidFill>
                <a:latin typeface="Open Sauce"/>
                <a:ea typeface="Open Sauce"/>
                <a:cs typeface="Open Sauce"/>
              </a:rPr>
              <a:t>Limited continuity,</a:t>
            </a:r>
          </a:p>
          <a:p xmlns:a="http://schemas.openxmlformats.org/drawingml/2006/main">
            <a:pPr algn="l">
              <a:defRPr sz="2475" b="0">
                <a:solidFill>
                  <a:srgbClr val="526767"/>
                </a:solidFill>
                <a:latin typeface="Open Sauce"/>
                <a:ea typeface="Open Sauce"/>
                <a:cs typeface="Open Sauce"/>
              </a:defRPr>
            </a:pPr>
            <a:r>
              <a:rPr sz="2475" b="0">
                <a:solidFill>
                  <a:srgbClr val="526767"/>
                </a:solidFill>
                <a:latin typeface="Open Sauce"/>
                <a:ea typeface="Open Sauce"/>
                <a:cs typeface="Open Sauce"/>
              </a:rPr>
              <a:t>not issuer authenticity</a:t>
            </a:r>
          </a:p>
        </p:txBody>
      </p:sp>
      <p:sp>
        <p:nvSpPr>
          <p:cNvPr id="23" name="authorization">
            <a:extLst xmlns:a="http://schemas.openxmlformats.org/drawingml/2006/main">
              <a:ext uri="{FF2B5EF4-FFF2-40B4-BE49-F238E27FC236}">
                <a16:creationId xmlns:a16="http://schemas.microsoft.com/office/drawing/2014/main" id="{42065D23-3B66-45F0-8426-ACEC3FE4DCF8}"/>
              </a:ext>
            </a:extLst>
          </p:cNvPr>
          <p:cNvSpPr>
            <a:spLocks xmlns:a="http://schemas.openxmlformats.org/drawingml/2006/main" noGrp="1"/>
          </p:cNvSpPr>
          <p:nvPr/>
        </p:nvSpPr>
        <p:spPr>
          <a:xfrm xmlns:a="http://schemas.openxmlformats.org/drawingml/2006/main">
            <a:off x="1028700" y="8715375"/>
            <a:ext cx="1623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086F68"/>
                </a:solidFill>
                <a:latin typeface="Open Sauce"/>
                <a:ea typeface="Open Sauce"/>
                <a:cs typeface="Open Sauce"/>
              </a:defRPr>
            </a:pPr>
            <a:r>
              <a:rPr sz="3150" b="1">
                <a:solidFill>
                  <a:srgbClr val="086F68"/>
                </a:solidFill>
                <a:latin typeface="Open Sauce"/>
                <a:ea typeface="Open Sauce"/>
                <a:cs typeface="Open Sauce"/>
              </a:rPr>
              <a:t>Disclosure authorization remains custodial.</a:t>
            </a:r>
          </a:p>
        </p:txBody>
      </p:sp>
      <p:sp>
        <p:nvSpPr>
          <p:cNvPr id="24" name="malicious-custody">
            <a:extLst xmlns:a="http://schemas.openxmlformats.org/drawingml/2006/main">
              <a:ext uri="{FF2B5EF4-FFF2-40B4-BE49-F238E27FC236}">
                <a16:creationId xmlns:a16="http://schemas.microsoft.com/office/drawing/2014/main" id="{99F4BB5B-DB79-401C-82A6-3AAD456B9B44}"/>
              </a:ext>
            </a:extLst>
          </p:cNvPr>
          <p:cNvSpPr>
            <a:spLocks xmlns:a="http://schemas.openxmlformats.org/drawingml/2006/main" noGrp="1"/>
          </p:cNvSpPr>
          <p:nvPr/>
        </p:nvSpPr>
        <p:spPr>
          <a:xfrm xmlns:a="http://schemas.openxmlformats.org/drawingml/2006/main">
            <a:off x="1028700" y="9277350"/>
            <a:ext cx="1623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767"/>
                </a:solidFill>
                <a:latin typeface="Open Sauce"/>
                <a:ea typeface="Open Sauce"/>
                <a:cs typeface="Open Sauce"/>
              </a:defRPr>
            </a:pPr>
            <a:r>
              <a:rPr sz="2100" b="0">
                <a:solidFill>
                  <a:srgbClr val="526767"/>
                </a:solidFill>
                <a:latin typeface="Open Sauce"/>
                <a:ea typeface="Open Sauce"/>
                <a:cs typeface="Open Sauce"/>
              </a:rPr>
              <a:t>Independent verification cannot prove holder consent against a malicious platform.</a:t>
            </a:r>
          </a:p>
        </p:txBody>
      </p:sp>
    </p:spTree>
    <p:extLst>
      <p:ext uri="{BB962C8B-B14F-4D97-AF65-F5344CB8AC3E}">
        <p14:creationId xmlns:p14="http://schemas.microsoft.com/office/powerpoint/2010/main" val="1024705400"/>
      </p:ext>
    </p:extLst>
  </p:cSld>
</p:sld>
</file>

<file path=ppt/slides/slide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B7A655FB-82AD-40DD-BB3B-0EB8C4B336AF}"/>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4718a5f5c5b4846"/>
            <a:stretch>
              <a:fillRect l="-7181" t="-19076" r="-3000" b="-11427"/>
            </a:stretch>
          </a:blipFill>
        </p:spPr>
      </p:sp>
      <p:sp>
        <p:nvSpPr>
          <p:cNvPr id="3" name="section-title">
            <a:extLst xmlns:a="http://schemas.openxmlformats.org/drawingml/2006/main">
              <a:ext uri="{FF2B5EF4-FFF2-40B4-BE49-F238E27FC236}">
                <a16:creationId xmlns:a16="http://schemas.microsoft.com/office/drawing/2014/main" id="{B2CF404A-D959-49CF-B40B-22275FE818EB}"/>
              </a:ext>
            </a:extLst>
          </p:cNvPr>
          <p:cNvSpPr>
            <a:spLocks xmlns:a="http://schemas.openxmlformats.org/drawingml/2006/main" noGrp="1"/>
          </p:cNvSpPr>
          <p:nvPr/>
        </p:nvSpPr>
        <p:spPr>
          <a:xfrm xmlns:a="http://schemas.openxmlformats.org/drawingml/2006/main">
            <a:off x="1028700" y="723900"/>
            <a:ext cx="16049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75" b="0">
                <a:solidFill>
                  <a:srgbClr val="183B3A"/>
                </a:solidFill>
                <a:latin typeface="Times New Roman MT Condensed"/>
                <a:ea typeface="Times New Roman MT Condensed"/>
                <a:cs typeface="Times New Roman MT Condensed"/>
              </a:defRPr>
            </a:pPr>
            <a:r>
              <a:rPr sz="7875" b="0">
                <a:solidFill>
                  <a:srgbClr val="183B3A"/>
                </a:solidFill>
                <a:latin typeface="Times New Roman MT Condensed"/>
                <a:ea typeface="Times New Roman MT Condensed"/>
                <a:cs typeface="Times New Roman MT Condensed"/>
              </a:rPr>
              <a:t>Data Flow Diagram</a:t>
            </a:r>
          </a:p>
        </p:txBody>
      </p:sp>
      <p:sp>
        <p:nvSpPr>
          <p:cNvPr id="4" name="header-rule">
            <a:extLst xmlns:a="http://schemas.openxmlformats.org/drawingml/2006/main">
              <a:ext uri="{FF2B5EF4-FFF2-40B4-BE49-F238E27FC236}">
                <a16:creationId xmlns:a16="http://schemas.microsoft.com/office/drawing/2014/main" id="{97E23BDE-186C-47F2-B21E-086AC88E660A}"/>
              </a:ext>
            </a:extLst>
          </p:cNvPr>
          <p:cNvSpPr>
            <a:spLocks xmlns:a="http://schemas.openxmlformats.org/drawingml/2006/main" noGrp="1"/>
          </p:cNvSpPr>
          <p:nvPr/>
        </p:nvSpPr>
        <p:spPr>
          <a:xfrm xmlns:a="http://schemas.openxmlformats.org/drawingml/2006/main">
            <a:off x="1028700" y="2419350"/>
            <a:ext cx="16230600" cy="0"/>
          </a:xfrm>
          <a:prstGeom xmlns:a="http://schemas.openxmlformats.org/drawingml/2006/main" prst="line">
            <a:avLst/>
          </a:prstGeom>
          <a:ln xmlns:a="http://schemas.openxmlformats.org/drawingml/2006/main" w="28575">
            <a:solidFill>
              <a:srgbClr val="086F68"/>
            </a:solidFill>
          </a:ln>
        </p:spPr>
      </p:sp>
      <p:sp>
        <p:nvSpPr>
          <p:cNvPr id="5" name="footer">
            <a:extLst xmlns:a="http://schemas.openxmlformats.org/drawingml/2006/main">
              <a:ext uri="{FF2B5EF4-FFF2-40B4-BE49-F238E27FC236}">
                <a16:creationId xmlns:a16="http://schemas.microsoft.com/office/drawing/2014/main" id="{6C5CE2E6-3B0F-4698-9D50-1C4C4D3B343A}"/>
              </a:ext>
            </a:extLst>
          </p:cNvPr>
          <p:cNvSpPr>
            <a:spLocks xmlns:a="http://schemas.openxmlformats.org/drawingml/2006/main" noGrp="1"/>
          </p:cNvSpPr>
          <p:nvPr/>
        </p:nvSpPr>
        <p:spPr>
          <a:xfrm xmlns:a="http://schemas.openxmlformats.org/drawingml/2006/main">
            <a:off x="1028700" y="9734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67"/>
                </a:solidFill>
                <a:latin typeface="Open Sauce"/>
                <a:ea typeface="Open Sauce"/>
                <a:cs typeface="Open Sauce"/>
              </a:defRPr>
            </a:pPr>
            <a:r>
              <a:rPr sz="1650" b="0">
                <a:solidFill>
                  <a:srgbClr val="526767"/>
                </a:solidFill>
                <a:latin typeface="Open Sauce"/>
                <a:ea typeface="Open Sauce"/>
                <a:cs typeface="Open Sauce"/>
              </a:rPr>
              <a:t>Foliolet  /  HackSprint PS32</a:t>
            </a:r>
          </a:p>
        </p:txBody>
      </p:sp>
      <p:sp>
        <p:nvSpPr>
          <p:cNvPr id="6" name="page">
            <a:extLst xmlns:a="http://schemas.openxmlformats.org/drawingml/2006/main">
              <a:ext uri="{FF2B5EF4-FFF2-40B4-BE49-F238E27FC236}">
                <a16:creationId xmlns:a16="http://schemas.microsoft.com/office/drawing/2014/main" id="{EF3BBAF3-0D07-4289-ACAC-08A4D3261986}"/>
              </a:ext>
            </a:extLst>
          </p:cNvPr>
          <p:cNvSpPr>
            <a:spLocks xmlns:a="http://schemas.openxmlformats.org/drawingml/2006/main" noGrp="1"/>
          </p:cNvSpPr>
          <p:nvPr/>
        </p:nvSpPr>
        <p:spPr>
          <a:xfrm xmlns:a="http://schemas.openxmlformats.org/drawingml/2006/main">
            <a:off x="16459200" y="973455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26767"/>
                </a:solidFill>
                <a:latin typeface="Open Sauce"/>
                <a:ea typeface="Open Sauce"/>
                <a:cs typeface="Open Sauce"/>
              </a:defRPr>
            </a:pPr>
            <a:r>
              <a:rPr sz="1650" b="0">
                <a:solidFill>
                  <a:srgbClr val="526767"/>
                </a:solidFill>
                <a:latin typeface="Open Sauce"/>
                <a:ea typeface="Open Sauce"/>
                <a:cs typeface="Open Sauce"/>
              </a:rPr>
              <a:t>05</a:t>
            </a:r>
          </a:p>
        </p:txBody>
      </p:sp>
      <p:sp>
        <p:nvSpPr>
          <p:cNvPr id="7" name="enrollment-lane">
            <a:extLst xmlns:a="http://schemas.openxmlformats.org/drawingml/2006/main">
              <a:ext uri="{FF2B5EF4-FFF2-40B4-BE49-F238E27FC236}">
                <a16:creationId xmlns:a16="http://schemas.microsoft.com/office/drawing/2014/main" id="{471F9BA8-0BB9-45DB-97EA-3364EF9750EF}"/>
              </a:ext>
            </a:extLst>
          </p:cNvPr>
          <p:cNvSpPr>
            <a:spLocks xmlns:a="http://schemas.openxmlformats.org/drawingml/2006/main" noGrp="1"/>
          </p:cNvSpPr>
          <p:nvPr/>
        </p:nvSpPr>
        <p:spPr>
          <a:xfrm xmlns:a="http://schemas.openxmlformats.org/drawingml/2006/main">
            <a:off x="1028700" y="292417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26767"/>
                </a:solidFill>
                <a:latin typeface="Open Sauce"/>
                <a:ea typeface="Open Sauce"/>
                <a:cs typeface="Open Sauce"/>
              </a:defRPr>
            </a:pPr>
            <a:r>
              <a:rPr sz="2025" b="1">
                <a:solidFill>
                  <a:srgbClr val="526767"/>
                </a:solidFill>
                <a:latin typeface="Open Sauce"/>
                <a:ea typeface="Open Sauce"/>
                <a:cs typeface="Open Sauce"/>
              </a:rPr>
              <a:t>ENROLLMENT</a:t>
            </a:r>
          </a:p>
        </p:txBody>
      </p:sp>
      <p:sp>
        <p:nvSpPr>
          <p:cNvPr id="8" name="enroll-step-0">
            <a:extLst xmlns:a="http://schemas.openxmlformats.org/drawingml/2006/main">
              <a:ext uri="{FF2B5EF4-FFF2-40B4-BE49-F238E27FC236}">
                <a16:creationId xmlns:a16="http://schemas.microsoft.com/office/drawing/2014/main" id="{B57D93D8-F6ED-4CAE-B96D-F804B05C9C1E}"/>
              </a:ext>
            </a:extLst>
          </p:cNvPr>
          <p:cNvSpPr>
            <a:spLocks xmlns:a="http://schemas.openxmlformats.org/drawingml/2006/main" noGrp="1"/>
          </p:cNvSpPr>
          <p:nvPr/>
        </p:nvSpPr>
        <p:spPr>
          <a:xfrm xmlns:a="http://schemas.openxmlformats.org/drawingml/2006/main">
            <a:off x="1028700" y="3695700"/>
            <a:ext cx="3543300" cy="1600200"/>
          </a:xfrm>
          <a:prstGeom xmlns:a="http://schemas.openxmlformats.org/drawingml/2006/main" prst="rect">
            <a:avLst/>
          </a:prstGeom>
          <a:solidFill xmlns:a="http://schemas.openxmlformats.org/drawingml/2006/main">
            <a:srgbClr val="FAF9F5"/>
          </a:solidFill>
          <a:ln xmlns:a="http://schemas.openxmlformats.org/drawingml/2006/main" w="19050">
            <a:solidFill>
              <a:srgbClr val="A8BFBA"/>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1  Enroll marksheet</a:t>
            </a:r>
          </a:p>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Encrypted original</a:t>
            </a:r>
          </a:p>
        </p:txBody>
      </p:sp>
      <p:sp>
        <p:nvSpPr>
          <p:cNvPr id="9" name="enroll-step-1">
            <a:extLst xmlns:a="http://schemas.openxmlformats.org/drawingml/2006/main">
              <a:ext uri="{FF2B5EF4-FFF2-40B4-BE49-F238E27FC236}">
                <a16:creationId xmlns:a16="http://schemas.microsoft.com/office/drawing/2014/main" id="{ACA2AF10-68B7-4CFA-AB75-74E3B2249246}"/>
              </a:ext>
            </a:extLst>
          </p:cNvPr>
          <p:cNvSpPr>
            <a:spLocks xmlns:a="http://schemas.openxmlformats.org/drawingml/2006/main" noGrp="1"/>
          </p:cNvSpPr>
          <p:nvPr/>
        </p:nvSpPr>
        <p:spPr>
          <a:xfrm xmlns:a="http://schemas.openxmlformats.org/drawingml/2006/main">
            <a:off x="5257800" y="3695700"/>
            <a:ext cx="3543300" cy="1600200"/>
          </a:xfrm>
          <a:prstGeom xmlns:a="http://schemas.openxmlformats.org/drawingml/2006/main" prst="rect">
            <a:avLst/>
          </a:prstGeom>
          <a:solidFill xmlns:a="http://schemas.openxmlformats.org/drawingml/2006/main">
            <a:srgbClr val="FAF9F5"/>
          </a:solidFill>
          <a:ln xmlns:a="http://schemas.openxmlformats.org/drawingml/2006/main" w="19050">
            <a:solidFill>
              <a:srgbClr val="A8BFBA"/>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2  Confirm facts</a:t>
            </a:r>
          </a:p>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Holder review</a:t>
            </a:r>
          </a:p>
        </p:txBody>
      </p:sp>
      <p:sp>
        <p:nvSpPr>
          <p:cNvPr id="10" name="enroll-step-2">
            <a:extLst xmlns:a="http://schemas.openxmlformats.org/drawingml/2006/main">
              <a:ext uri="{FF2B5EF4-FFF2-40B4-BE49-F238E27FC236}">
                <a16:creationId xmlns:a16="http://schemas.microsoft.com/office/drawing/2014/main" id="{3509CD39-4546-4755-AFC7-2BBF655958A5}"/>
              </a:ext>
            </a:extLst>
          </p:cNvPr>
          <p:cNvSpPr>
            <a:spLocks xmlns:a="http://schemas.openxmlformats.org/drawingml/2006/main" noGrp="1"/>
          </p:cNvSpPr>
          <p:nvPr/>
        </p:nvSpPr>
        <p:spPr>
          <a:xfrm xmlns:a="http://schemas.openxmlformats.org/drawingml/2006/main">
            <a:off x="9486900" y="3695700"/>
            <a:ext cx="3543300" cy="1600200"/>
          </a:xfrm>
          <a:prstGeom xmlns:a="http://schemas.openxmlformats.org/drawingml/2006/main" prst="rect">
            <a:avLst/>
          </a:prstGeom>
          <a:solidFill xmlns:a="http://schemas.openxmlformats.org/drawingml/2006/main">
            <a:srgbClr val="FAF9F5"/>
          </a:solidFill>
          <a:ln xmlns:a="http://schemas.openxmlformats.org/drawingml/2006/main" w="19050">
            <a:solidFill>
              <a:srgbClr val="A8BFBA"/>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3  Salt each claim</a:t>
            </a:r>
          </a:p>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Build Merkle root</a:t>
            </a:r>
          </a:p>
        </p:txBody>
      </p:sp>
      <p:sp>
        <p:nvSpPr>
          <p:cNvPr id="11" name="enroll-step-3">
            <a:extLst xmlns:a="http://schemas.openxmlformats.org/drawingml/2006/main">
              <a:ext uri="{FF2B5EF4-FFF2-40B4-BE49-F238E27FC236}">
                <a16:creationId xmlns:a16="http://schemas.microsoft.com/office/drawing/2014/main" id="{5DFDD63C-4750-4F69-9114-963F5A27CD2D}"/>
              </a:ext>
            </a:extLst>
          </p:cNvPr>
          <p:cNvSpPr>
            <a:spLocks xmlns:a="http://schemas.openxmlformats.org/drawingml/2006/main" noGrp="1"/>
          </p:cNvSpPr>
          <p:nvPr/>
        </p:nvSpPr>
        <p:spPr>
          <a:xfrm xmlns:a="http://schemas.openxmlformats.org/drawingml/2006/main">
            <a:off x="13716000" y="3695700"/>
            <a:ext cx="3543300" cy="1600200"/>
          </a:xfrm>
          <a:prstGeom xmlns:a="http://schemas.openxmlformats.org/drawingml/2006/main" prst="rect">
            <a:avLst/>
          </a:prstGeom>
          <a:solidFill xmlns:a="http://schemas.openxmlformats.org/drawingml/2006/main">
            <a:srgbClr val="E6F0EC"/>
          </a:solidFill>
          <a:ln xmlns:a="http://schemas.openxmlformats.org/drawingml/2006/main" w="19050">
            <a:solidFill>
              <a:srgbClr val="086F68"/>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4  Anchor root</a:t>
            </a:r>
          </a:p>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Solidity / Web3j</a:t>
            </a:r>
          </a:p>
        </p:txBody>
      </p:sp>
      <p:sp>
        <p:nvSpPr>
          <p:cNvPr id="12" name="disclose-step-0">
            <a:extLst xmlns:a="http://schemas.openxmlformats.org/drawingml/2006/main">
              <a:ext uri="{FF2B5EF4-FFF2-40B4-BE49-F238E27FC236}">
                <a16:creationId xmlns:a16="http://schemas.microsoft.com/office/drawing/2014/main" id="{C2DF33C3-E38D-45D9-950E-D9DE896ACDA8}"/>
              </a:ext>
            </a:extLst>
          </p:cNvPr>
          <p:cNvSpPr>
            <a:spLocks xmlns:a="http://schemas.openxmlformats.org/drawingml/2006/main" noGrp="1"/>
          </p:cNvSpPr>
          <p:nvPr/>
        </p:nvSpPr>
        <p:spPr>
          <a:xfrm xmlns:a="http://schemas.openxmlformats.org/drawingml/2006/main">
            <a:off x="1028700" y="7058025"/>
            <a:ext cx="3543300" cy="1600200"/>
          </a:xfrm>
          <a:prstGeom xmlns:a="http://schemas.openxmlformats.org/drawingml/2006/main" prst="rect">
            <a:avLst/>
          </a:prstGeom>
          <a:solidFill xmlns:a="http://schemas.openxmlformats.org/drawingml/2006/main">
            <a:srgbClr val="FAF9F5"/>
          </a:solidFill>
          <a:ln xmlns:a="http://schemas.openxmlformats.org/drawingml/2006/main" w="19050">
            <a:solidFill>
              <a:srgbClr val="A8BFBA"/>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5  Select threshold</a:t>
            </a:r>
          </a:p>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CGPA ≥ 8.5</a:t>
            </a:r>
          </a:p>
        </p:txBody>
      </p:sp>
      <p:sp>
        <p:nvSpPr>
          <p:cNvPr id="13" name="disclose-step-1">
            <a:extLst xmlns:a="http://schemas.openxmlformats.org/drawingml/2006/main">
              <a:ext uri="{FF2B5EF4-FFF2-40B4-BE49-F238E27FC236}">
                <a16:creationId xmlns:a16="http://schemas.microsoft.com/office/drawing/2014/main" id="{6AC697B7-C79B-42C0-B7B1-C6000789238C}"/>
              </a:ext>
            </a:extLst>
          </p:cNvPr>
          <p:cNvSpPr>
            <a:spLocks xmlns:a="http://schemas.openxmlformats.org/drawingml/2006/main" noGrp="1"/>
          </p:cNvSpPr>
          <p:nvPr/>
        </p:nvSpPr>
        <p:spPr>
          <a:xfrm xmlns:a="http://schemas.openxmlformats.org/drawingml/2006/main">
            <a:off x="5257800" y="7058025"/>
            <a:ext cx="3543300" cy="1600200"/>
          </a:xfrm>
          <a:prstGeom xmlns:a="http://schemas.openxmlformats.org/drawingml/2006/main" prst="rect">
            <a:avLst/>
          </a:prstGeom>
          <a:solidFill xmlns:a="http://schemas.openxmlformats.org/drawingml/2006/main">
            <a:srgbClr val="FAF9F5"/>
          </a:solidFill>
          <a:ln xmlns:a="http://schemas.openxmlformats.org/drawingml/2006/main" w="19050">
            <a:solidFill>
              <a:srgbClr val="A8BFBA"/>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6  Release bundle</a:t>
            </a:r>
          </a:p>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Selected leaf + proof</a:t>
            </a:r>
          </a:p>
        </p:txBody>
      </p:sp>
      <p:sp>
        <p:nvSpPr>
          <p:cNvPr id="14" name="disclose-step-2">
            <a:extLst xmlns:a="http://schemas.openxmlformats.org/drawingml/2006/main">
              <a:ext uri="{FF2B5EF4-FFF2-40B4-BE49-F238E27FC236}">
                <a16:creationId xmlns:a16="http://schemas.microsoft.com/office/drawing/2014/main" id="{E4960083-E186-4723-B2C3-579203726314}"/>
              </a:ext>
            </a:extLst>
          </p:cNvPr>
          <p:cNvSpPr>
            <a:spLocks xmlns:a="http://schemas.openxmlformats.org/drawingml/2006/main" noGrp="1"/>
          </p:cNvSpPr>
          <p:nvPr/>
        </p:nvSpPr>
        <p:spPr>
          <a:xfrm xmlns:a="http://schemas.openxmlformats.org/drawingml/2006/main">
            <a:off x="9486900" y="7058025"/>
            <a:ext cx="3543300" cy="1600200"/>
          </a:xfrm>
          <a:prstGeom xmlns:a="http://schemas.openxmlformats.org/drawingml/2006/main" prst="rect">
            <a:avLst/>
          </a:prstGeom>
          <a:solidFill xmlns:a="http://schemas.openxmlformats.org/drawingml/2006/main">
            <a:srgbClr val="FAF9F5"/>
          </a:solidFill>
          <a:ln xmlns:a="http://schemas.openxmlformats.org/drawingml/2006/main" w="19050">
            <a:solidFill>
              <a:srgbClr val="A8BFBA"/>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7  Verify</a:t>
            </a:r>
          </a:p>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Proof + pinned state</a:t>
            </a:r>
          </a:p>
        </p:txBody>
      </p:sp>
      <p:sp>
        <p:nvSpPr>
          <p:cNvPr id="15" name="disclose-step-3">
            <a:extLst xmlns:a="http://schemas.openxmlformats.org/drawingml/2006/main">
              <a:ext uri="{FF2B5EF4-FFF2-40B4-BE49-F238E27FC236}">
                <a16:creationId xmlns:a16="http://schemas.microsoft.com/office/drawing/2014/main" id="{0F8D0F4F-4C4A-43FC-914E-048DA95BC4C5}"/>
              </a:ext>
            </a:extLst>
          </p:cNvPr>
          <p:cNvSpPr>
            <a:spLocks xmlns:a="http://schemas.openxmlformats.org/drawingml/2006/main" noGrp="1"/>
          </p:cNvSpPr>
          <p:nvPr/>
        </p:nvSpPr>
        <p:spPr>
          <a:xfrm xmlns:a="http://schemas.openxmlformats.org/drawingml/2006/main">
            <a:off x="13716000" y="7058025"/>
            <a:ext cx="3543300" cy="1600200"/>
          </a:xfrm>
          <a:prstGeom xmlns:a="http://schemas.openxmlformats.org/drawingml/2006/main" prst="rect">
            <a:avLst/>
          </a:prstGeom>
          <a:solidFill xmlns:a="http://schemas.openxmlformats.org/drawingml/2006/main">
            <a:srgbClr val="E6F0EC"/>
          </a:solidFill>
          <a:ln xmlns:a="http://schemas.openxmlformats.org/drawingml/2006/main" w="19050">
            <a:solidFill>
              <a:srgbClr val="086F68"/>
            </a:solidFill>
            <a:prstDash val="solid"/>
          </a:ln>
        </p:spPr>
        <p:txBody>
          <a:bodyPr xmlns:a="http://schemas.openxmlformats.org/drawingml/2006/main" lIns="171450" tIns="171450" rIns="171450" bIns="171450" anchor="ctr">
            <a:noAutofit/>
          </a:bodyPr>
          <a:lstStyle xmlns:a="http://schemas.openxmlformats.org/drawingml/2006/main"/>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8  Receive fact</a:t>
            </a:r>
          </a:p>
          <a:p xmlns:a="http://schemas.openxmlformats.org/drawingml/2006/main">
            <a:pPr algn="ctr">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true</a:t>
            </a:r>
          </a:p>
        </p:txBody>
      </p:sp>
      <p:sp>
        <p:nvSpPr>
          <p:cNvPr id="16" name="flow-9-14">
            <a:extLst xmlns:a="http://schemas.openxmlformats.org/drawingml/2006/main">
              <a:ext uri="{FF2B5EF4-FFF2-40B4-BE49-F238E27FC236}">
                <a16:creationId xmlns:a16="http://schemas.microsoft.com/office/drawing/2014/main" id="{560080B4-FB08-46F2-8C89-858EF73AFE8F}"/>
              </a:ext>
            </a:extLst>
          </p:cNvPr>
          <p:cNvSpPr>
            <a:spLocks xmlns:a="http://schemas.openxmlformats.org/drawingml/2006/main" noGrp="1"/>
          </p:cNvSpPr>
          <p:nvPr/>
        </p:nvSpPr>
        <p:spPr>
          <a:xfrm xmlns:a="http://schemas.openxmlformats.org/drawingml/2006/main">
            <a:off x="4638675" y="4410075"/>
            <a:ext cx="552450" cy="171450"/>
          </a:xfrm>
          <a:prstGeom xmlns:a="http://schemas.openxmlformats.org/drawingml/2006/main" prst="rightArrow">
            <a:avLst/>
          </a:prstGeom>
          <a:solidFill xmlns:a="http://schemas.openxmlformats.org/drawingml/2006/main">
            <a:srgbClr val="086F68"/>
          </a:solidFill>
          <a:ln xmlns:a="http://schemas.openxmlformats.org/drawingml/2006/main" w="0">
            <a:noFill/>
          </a:ln>
        </p:spPr>
      </p:sp>
      <p:sp>
        <p:nvSpPr>
          <p:cNvPr id="17" name="flow-10-15">
            <a:extLst xmlns:a="http://schemas.openxmlformats.org/drawingml/2006/main">
              <a:ext uri="{FF2B5EF4-FFF2-40B4-BE49-F238E27FC236}">
                <a16:creationId xmlns:a16="http://schemas.microsoft.com/office/drawing/2014/main" id="{999A0081-8F75-4733-88F9-830BCD0901FC}"/>
              </a:ext>
            </a:extLst>
          </p:cNvPr>
          <p:cNvSpPr>
            <a:spLocks xmlns:a="http://schemas.openxmlformats.org/drawingml/2006/main" noGrp="1"/>
          </p:cNvSpPr>
          <p:nvPr/>
        </p:nvSpPr>
        <p:spPr>
          <a:xfrm xmlns:a="http://schemas.openxmlformats.org/drawingml/2006/main">
            <a:off x="4638675" y="7772400"/>
            <a:ext cx="552450" cy="171450"/>
          </a:xfrm>
          <a:prstGeom xmlns:a="http://schemas.openxmlformats.org/drawingml/2006/main" prst="rightArrow">
            <a:avLst/>
          </a:prstGeom>
          <a:solidFill xmlns:a="http://schemas.openxmlformats.org/drawingml/2006/main">
            <a:srgbClr val="086F68"/>
          </a:solidFill>
          <a:ln xmlns:a="http://schemas.openxmlformats.org/drawingml/2006/main" w="0">
            <a:noFill/>
          </a:ln>
        </p:spPr>
      </p:sp>
      <p:sp>
        <p:nvSpPr>
          <p:cNvPr id="18" name="flow-11-16">
            <a:extLst xmlns:a="http://schemas.openxmlformats.org/drawingml/2006/main">
              <a:ext uri="{FF2B5EF4-FFF2-40B4-BE49-F238E27FC236}">
                <a16:creationId xmlns:a16="http://schemas.microsoft.com/office/drawing/2014/main" id="{4AD50CB1-287D-42A7-AC6D-4E77EDBF6594}"/>
              </a:ext>
            </a:extLst>
          </p:cNvPr>
          <p:cNvSpPr>
            <a:spLocks xmlns:a="http://schemas.openxmlformats.org/drawingml/2006/main" noGrp="1"/>
          </p:cNvSpPr>
          <p:nvPr/>
        </p:nvSpPr>
        <p:spPr>
          <a:xfrm xmlns:a="http://schemas.openxmlformats.org/drawingml/2006/main">
            <a:off x="8867775" y="4410075"/>
            <a:ext cx="552450" cy="171450"/>
          </a:xfrm>
          <a:prstGeom xmlns:a="http://schemas.openxmlformats.org/drawingml/2006/main" prst="rightArrow">
            <a:avLst/>
          </a:prstGeom>
          <a:solidFill xmlns:a="http://schemas.openxmlformats.org/drawingml/2006/main">
            <a:srgbClr val="086F68"/>
          </a:solidFill>
          <a:ln xmlns:a="http://schemas.openxmlformats.org/drawingml/2006/main" w="0">
            <a:noFill/>
          </a:ln>
        </p:spPr>
      </p:sp>
      <p:sp>
        <p:nvSpPr>
          <p:cNvPr id="19" name="flow-12-17">
            <a:extLst xmlns:a="http://schemas.openxmlformats.org/drawingml/2006/main">
              <a:ext uri="{FF2B5EF4-FFF2-40B4-BE49-F238E27FC236}">
                <a16:creationId xmlns:a16="http://schemas.microsoft.com/office/drawing/2014/main" id="{2D21608B-C67B-44A2-9164-E74E0D7FCEE0}"/>
              </a:ext>
            </a:extLst>
          </p:cNvPr>
          <p:cNvSpPr>
            <a:spLocks xmlns:a="http://schemas.openxmlformats.org/drawingml/2006/main" noGrp="1"/>
          </p:cNvSpPr>
          <p:nvPr/>
        </p:nvSpPr>
        <p:spPr>
          <a:xfrm xmlns:a="http://schemas.openxmlformats.org/drawingml/2006/main">
            <a:off x="8867775" y="7772400"/>
            <a:ext cx="552450" cy="171450"/>
          </a:xfrm>
          <a:prstGeom xmlns:a="http://schemas.openxmlformats.org/drawingml/2006/main" prst="rightArrow">
            <a:avLst/>
          </a:prstGeom>
          <a:solidFill xmlns:a="http://schemas.openxmlformats.org/drawingml/2006/main">
            <a:srgbClr val="086F68"/>
          </a:solidFill>
          <a:ln xmlns:a="http://schemas.openxmlformats.org/drawingml/2006/main" w="0">
            <a:noFill/>
          </a:ln>
        </p:spPr>
      </p:sp>
      <p:sp>
        <p:nvSpPr>
          <p:cNvPr id="20" name="flow-13-18">
            <a:extLst xmlns:a="http://schemas.openxmlformats.org/drawingml/2006/main">
              <a:ext uri="{FF2B5EF4-FFF2-40B4-BE49-F238E27FC236}">
                <a16:creationId xmlns:a16="http://schemas.microsoft.com/office/drawing/2014/main" id="{C5818AFD-98C5-4B49-AD32-E39265F88778}"/>
              </a:ext>
            </a:extLst>
          </p:cNvPr>
          <p:cNvSpPr>
            <a:spLocks xmlns:a="http://schemas.openxmlformats.org/drawingml/2006/main" noGrp="1"/>
          </p:cNvSpPr>
          <p:nvPr/>
        </p:nvSpPr>
        <p:spPr>
          <a:xfrm xmlns:a="http://schemas.openxmlformats.org/drawingml/2006/main">
            <a:off x="13096875" y="4410075"/>
            <a:ext cx="552450" cy="171450"/>
          </a:xfrm>
          <a:prstGeom xmlns:a="http://schemas.openxmlformats.org/drawingml/2006/main" prst="rightArrow">
            <a:avLst/>
          </a:prstGeom>
          <a:solidFill xmlns:a="http://schemas.openxmlformats.org/drawingml/2006/main">
            <a:srgbClr val="086F68"/>
          </a:solidFill>
          <a:ln xmlns:a="http://schemas.openxmlformats.org/drawingml/2006/main" w="0">
            <a:noFill/>
          </a:ln>
        </p:spPr>
      </p:sp>
      <p:sp>
        <p:nvSpPr>
          <p:cNvPr id="21" name="flow-14-19">
            <a:extLst xmlns:a="http://schemas.openxmlformats.org/drawingml/2006/main">
              <a:ext uri="{FF2B5EF4-FFF2-40B4-BE49-F238E27FC236}">
                <a16:creationId xmlns:a16="http://schemas.microsoft.com/office/drawing/2014/main" id="{E6DAA657-5F90-4C00-821F-85D13B32C8F9}"/>
              </a:ext>
            </a:extLst>
          </p:cNvPr>
          <p:cNvSpPr>
            <a:spLocks xmlns:a="http://schemas.openxmlformats.org/drawingml/2006/main" noGrp="1"/>
          </p:cNvSpPr>
          <p:nvPr/>
        </p:nvSpPr>
        <p:spPr>
          <a:xfrm xmlns:a="http://schemas.openxmlformats.org/drawingml/2006/main">
            <a:off x="13096875" y="7772400"/>
            <a:ext cx="552450" cy="171450"/>
          </a:xfrm>
          <a:prstGeom xmlns:a="http://schemas.openxmlformats.org/drawingml/2006/main" prst="rightArrow">
            <a:avLst/>
          </a:prstGeom>
          <a:solidFill xmlns:a="http://schemas.openxmlformats.org/drawingml/2006/main">
            <a:srgbClr val="086F68"/>
          </a:solidFill>
          <a:ln xmlns:a="http://schemas.openxmlformats.org/drawingml/2006/main" w="0">
            <a:noFill/>
          </a:ln>
        </p:spPr>
      </p:sp>
      <p:sp>
        <p:nvSpPr>
          <p:cNvPr id="22" name="disclosure-lane">
            <a:extLst xmlns:a="http://schemas.openxmlformats.org/drawingml/2006/main">
              <a:ext uri="{FF2B5EF4-FFF2-40B4-BE49-F238E27FC236}">
                <a16:creationId xmlns:a16="http://schemas.microsoft.com/office/drawing/2014/main" id="{FA42DBF3-3C3F-4DD2-83C4-5A1858ABB94F}"/>
              </a:ext>
            </a:extLst>
          </p:cNvPr>
          <p:cNvSpPr>
            <a:spLocks xmlns:a="http://schemas.openxmlformats.org/drawingml/2006/main" noGrp="1"/>
          </p:cNvSpPr>
          <p:nvPr/>
        </p:nvSpPr>
        <p:spPr>
          <a:xfrm xmlns:a="http://schemas.openxmlformats.org/drawingml/2006/main">
            <a:off x="1028700" y="61817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26767"/>
                </a:solidFill>
                <a:latin typeface="Open Sauce"/>
                <a:ea typeface="Open Sauce"/>
                <a:cs typeface="Open Sauce"/>
              </a:defRPr>
            </a:pPr>
            <a:r>
              <a:rPr sz="2025" b="1">
                <a:solidFill>
                  <a:srgbClr val="526767"/>
                </a:solidFill>
                <a:latin typeface="Open Sauce"/>
                <a:ea typeface="Open Sauce"/>
                <a:cs typeface="Open Sauce"/>
              </a:rPr>
              <a:t>DISCLOSURE</a:t>
            </a:r>
          </a:p>
        </p:txBody>
      </p:sp>
      <p:sp>
        <p:nvSpPr>
          <p:cNvPr id="23" name="policy-scopes">
            <a:extLst xmlns:a="http://schemas.openxmlformats.org/drawingml/2006/main">
              <a:ext uri="{FF2B5EF4-FFF2-40B4-BE49-F238E27FC236}">
                <a16:creationId xmlns:a16="http://schemas.microsoft.com/office/drawing/2014/main" id="{CF98BBB7-D720-4099-A584-D69E213027DF}"/>
              </a:ext>
            </a:extLst>
          </p:cNvPr>
          <p:cNvSpPr>
            <a:spLocks xmlns:a="http://schemas.openxmlformats.org/drawingml/2006/main" noGrp="1"/>
          </p:cNvSpPr>
          <p:nvPr/>
        </p:nvSpPr>
        <p:spPr>
          <a:xfrm xmlns:a="http://schemas.openxmlformats.org/drawingml/2006/main">
            <a:off x="1028700" y="6648450"/>
            <a:ext cx="811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67"/>
                </a:solidFill>
                <a:latin typeface="Open Sauce"/>
                <a:ea typeface="Open Sauce"/>
                <a:cs typeface="Open Sauce"/>
              </a:defRPr>
            </a:pPr>
            <a:r>
              <a:rPr sz="1875" b="0">
                <a:solidFill>
                  <a:srgbClr val="526767"/>
                </a:solidFill>
                <a:latin typeface="Open Sauce"/>
                <a:ea typeface="Open Sauce"/>
                <a:cs typeface="Open Sauce"/>
              </a:rPr>
              <a:t>Purpose · expiry · revocation · optional one-time release</a:t>
            </a:r>
          </a:p>
        </p:txBody>
      </p:sp>
      <p:sp>
        <p:nvSpPr>
          <p:cNvPr id="24" name="flow-15-22">
            <a:extLst xmlns:a="http://schemas.openxmlformats.org/drawingml/2006/main">
              <a:ext uri="{FF2B5EF4-FFF2-40B4-BE49-F238E27FC236}">
                <a16:creationId xmlns:a16="http://schemas.microsoft.com/office/drawing/2014/main" id="{11330330-EA0F-468E-9496-CFED7E2E0720}"/>
              </a:ext>
            </a:extLst>
          </p:cNvPr>
          <p:cNvSpPr>
            <a:spLocks xmlns:a="http://schemas.openxmlformats.org/drawingml/2006/main" noGrp="1"/>
          </p:cNvSpPr>
          <p:nvPr/>
        </p:nvSpPr>
        <p:spPr>
          <a:xfrm xmlns:a="http://schemas.openxmlformats.org/drawingml/2006/main">
            <a:off x="15473363" y="5281613"/>
            <a:ext cx="28575" cy="881063"/>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25" name="flow-15-23">
            <a:extLst xmlns:a="http://schemas.openxmlformats.org/drawingml/2006/main">
              <a:ext uri="{FF2B5EF4-FFF2-40B4-BE49-F238E27FC236}">
                <a16:creationId xmlns:a16="http://schemas.microsoft.com/office/drawing/2014/main" id="{3DD050B5-5550-45C7-88A4-D45BF8EEF0F6}"/>
              </a:ext>
            </a:extLst>
          </p:cNvPr>
          <p:cNvSpPr>
            <a:spLocks xmlns:a="http://schemas.openxmlformats.org/drawingml/2006/main" noGrp="1"/>
          </p:cNvSpPr>
          <p:nvPr/>
        </p:nvSpPr>
        <p:spPr>
          <a:xfrm xmlns:a="http://schemas.openxmlformats.org/drawingml/2006/main">
            <a:off x="11244263" y="6162675"/>
            <a:ext cx="4229100" cy="28575"/>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26" name="flow-15-24">
            <a:extLst xmlns:a="http://schemas.openxmlformats.org/drawingml/2006/main">
              <a:ext uri="{FF2B5EF4-FFF2-40B4-BE49-F238E27FC236}">
                <a16:creationId xmlns:a16="http://schemas.microsoft.com/office/drawing/2014/main" id="{36B7ACED-4EF4-4FF1-B64B-DE8B1D8D1466}"/>
              </a:ext>
            </a:extLst>
          </p:cNvPr>
          <p:cNvSpPr>
            <a:spLocks xmlns:a="http://schemas.openxmlformats.org/drawingml/2006/main" noGrp="1"/>
          </p:cNvSpPr>
          <p:nvPr/>
        </p:nvSpPr>
        <p:spPr>
          <a:xfrm xmlns:a="http://schemas.openxmlformats.org/drawingml/2006/main">
            <a:off x="11244263" y="6162675"/>
            <a:ext cx="28575" cy="690563"/>
          </a:xfrm>
          <a:prstGeom xmlns:a="http://schemas.openxmlformats.org/drawingml/2006/main" prst="rect">
            <a:avLst/>
          </a:prstGeom>
          <a:solidFill xmlns:a="http://schemas.openxmlformats.org/drawingml/2006/main">
            <a:srgbClr val="086F68"/>
          </a:solidFill>
          <a:ln xmlns:a="http://schemas.openxmlformats.org/drawingml/2006/main" w="0">
            <a:noFill/>
          </a:ln>
        </p:spPr>
      </p:sp>
      <p:sp>
        <p:nvSpPr>
          <p:cNvPr id="27" name="flow-15-25">
            <a:extLst xmlns:a="http://schemas.openxmlformats.org/drawingml/2006/main">
              <a:ext uri="{FF2B5EF4-FFF2-40B4-BE49-F238E27FC236}">
                <a16:creationId xmlns:a16="http://schemas.microsoft.com/office/drawing/2014/main" id="{3B716A72-B8E3-4D29-AF17-FAD3608A46FD}"/>
              </a:ext>
            </a:extLst>
          </p:cNvPr>
          <p:cNvSpPr>
            <a:spLocks xmlns:a="http://schemas.openxmlformats.org/drawingml/2006/main" noGrp="1"/>
          </p:cNvSpPr>
          <p:nvPr/>
        </p:nvSpPr>
        <p:spPr>
          <a:xfrm xmlns:a="http://schemas.openxmlformats.org/drawingml/2006/main">
            <a:off x="11182350" y="6810375"/>
            <a:ext cx="152400" cy="219075"/>
          </a:xfrm>
          <a:prstGeom xmlns:a="http://schemas.openxmlformats.org/drawingml/2006/main" prst="downArrow">
            <a:avLst/>
          </a:prstGeom>
          <a:solidFill xmlns:a="http://schemas.openxmlformats.org/drawingml/2006/main">
            <a:srgbClr val="086F68"/>
          </a:solidFill>
          <a:ln xmlns:a="http://schemas.openxmlformats.org/drawingml/2006/main" w="0">
            <a:noFill/>
          </a:ln>
        </p:spPr>
      </p:sp>
      <p:sp>
        <p:nvSpPr>
          <p:cNvPr id="28" name="state-edge">
            <a:extLst xmlns:a="http://schemas.openxmlformats.org/drawingml/2006/main">
              <a:ext uri="{FF2B5EF4-FFF2-40B4-BE49-F238E27FC236}">
                <a16:creationId xmlns:a16="http://schemas.microsoft.com/office/drawing/2014/main" id="{47459C52-B5EA-4478-9B26-6AD14CE7AC14}"/>
              </a:ext>
            </a:extLst>
          </p:cNvPr>
          <p:cNvSpPr>
            <a:spLocks xmlns:a="http://schemas.openxmlformats.org/drawingml/2006/main" noGrp="1"/>
          </p:cNvSpPr>
          <p:nvPr/>
        </p:nvSpPr>
        <p:spPr>
          <a:xfrm xmlns:a="http://schemas.openxmlformats.org/drawingml/2006/main">
            <a:off x="12525375" y="548640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0">
                <a:solidFill>
                  <a:srgbClr val="086F68"/>
                </a:solidFill>
                <a:latin typeface="Open Sauce"/>
                <a:ea typeface="Open Sauce"/>
                <a:cs typeface="Open Sauce"/>
              </a:defRPr>
            </a:pPr>
            <a:r>
              <a:rPr sz="1875" b="0">
                <a:solidFill>
                  <a:srgbClr val="086F68"/>
                </a:solidFill>
                <a:latin typeface="Open Sauce"/>
                <a:ea typeface="Open Sauce"/>
                <a:cs typeface="Open Sauce"/>
              </a:rPr>
              <a:t>Current state</a:t>
            </a:r>
          </a:p>
          <a:p xmlns:a="http://schemas.openxmlformats.org/drawingml/2006/main">
            <a:pPr algn="ctr">
              <a:defRPr sz="1875" b="0">
                <a:solidFill>
                  <a:srgbClr val="086F68"/>
                </a:solidFill>
                <a:latin typeface="Open Sauce"/>
                <a:ea typeface="Open Sauce"/>
                <a:cs typeface="Open Sauce"/>
              </a:defRPr>
            </a:pPr>
            <a:r>
              <a:rPr sz="1875" b="0">
                <a:solidFill>
                  <a:srgbClr val="086F68"/>
                </a:solidFill>
                <a:latin typeface="Open Sauce"/>
                <a:ea typeface="Open Sauce"/>
                <a:cs typeface="Open Sauce"/>
              </a:rPr>
              <a:t>via RPC</a:t>
            </a:r>
          </a:p>
        </p:txBody>
      </p:sp>
      <p:sp>
        <p:nvSpPr>
          <p:cNvPr id="29" name="privacy-footer">
            <a:extLst xmlns:a="http://schemas.openxmlformats.org/drawingml/2006/main">
              <a:ext uri="{FF2B5EF4-FFF2-40B4-BE49-F238E27FC236}">
                <a16:creationId xmlns:a16="http://schemas.microsoft.com/office/drawing/2014/main" id="{AA147C57-86C1-48F7-8DB2-40E94887666E}"/>
              </a:ext>
            </a:extLst>
          </p:cNvPr>
          <p:cNvSpPr>
            <a:spLocks xmlns:a="http://schemas.openxmlformats.org/drawingml/2006/main" noGrp="1"/>
          </p:cNvSpPr>
          <p:nvPr/>
        </p:nvSpPr>
        <p:spPr>
          <a:xfrm xmlns:a="http://schemas.openxmlformats.org/drawingml/2006/main">
            <a:off x="1028700" y="9105900"/>
            <a:ext cx="16230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B3A"/>
                </a:solidFill>
                <a:latin typeface="Open Sauce"/>
                <a:ea typeface="Open Sauce"/>
                <a:cs typeface="Open Sauce"/>
              </a:defRPr>
            </a:pPr>
            <a:r>
              <a:rPr sz="2550" b="1">
                <a:solidFill>
                  <a:srgbClr val="183B3A"/>
                </a:solidFill>
                <a:latin typeface="Open Sauce"/>
                <a:ea typeface="Open Sauce"/>
                <a:cs typeface="Open Sauce"/>
              </a:rPr>
              <a:t>The original, exact CGPA and other hidden values/salts stay out of this bundle.</a:t>
            </a:r>
          </a:p>
        </p:txBody>
      </p:sp>
    </p:spTree>
    <p:extLst>
      <p:ext uri="{BB962C8B-B14F-4D97-AF65-F5344CB8AC3E}">
        <p14:creationId xmlns:p14="http://schemas.microsoft.com/office/powerpoint/2010/main" val="1971539963"/>
      </p:ext>
    </p:extLst>
  </p:cSld>
</p:sld>
</file>

<file path=ppt/slides/slide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C2929C0C-0E0A-4F26-B789-8F175658E650}"/>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89d138c3a58e465d"/>
            <a:stretch>
              <a:fillRect l="-7181" t="-19076" r="-3000" b="-11427"/>
            </a:stretch>
          </a:blipFill>
        </p:spPr>
      </p:sp>
      <p:sp>
        <p:nvSpPr>
          <p:cNvPr id="3" name="section-title">
            <a:extLst xmlns:a="http://schemas.openxmlformats.org/drawingml/2006/main">
              <a:ext uri="{FF2B5EF4-FFF2-40B4-BE49-F238E27FC236}">
                <a16:creationId xmlns:a16="http://schemas.microsoft.com/office/drawing/2014/main" id="{8972D5E7-B5D0-40F6-869A-B7F7C10F9452}"/>
              </a:ext>
            </a:extLst>
          </p:cNvPr>
          <p:cNvSpPr>
            <a:spLocks xmlns:a="http://schemas.openxmlformats.org/drawingml/2006/main" noGrp="1"/>
          </p:cNvSpPr>
          <p:nvPr/>
        </p:nvSpPr>
        <p:spPr>
          <a:xfrm xmlns:a="http://schemas.openxmlformats.org/drawingml/2006/main">
            <a:off x="1028700" y="723900"/>
            <a:ext cx="16049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75" b="0">
                <a:solidFill>
                  <a:srgbClr val="183B3A"/>
                </a:solidFill>
                <a:latin typeface="Times New Roman MT Condensed"/>
                <a:ea typeface="Times New Roman MT Condensed"/>
                <a:cs typeface="Times New Roman MT Condensed"/>
              </a:defRPr>
            </a:pPr>
            <a:r>
              <a:rPr sz="7875" b="0">
                <a:solidFill>
                  <a:srgbClr val="183B3A"/>
                </a:solidFill>
                <a:latin typeface="Times New Roman MT Condensed"/>
                <a:ea typeface="Times New Roman MT Condensed"/>
                <a:cs typeface="Times New Roman MT Condensed"/>
              </a:rPr>
              <a:t>Screenshot of Your Project</a:t>
            </a:r>
          </a:p>
        </p:txBody>
      </p:sp>
      <p:sp>
        <p:nvSpPr>
          <p:cNvPr id="4" name="header-rule">
            <a:extLst xmlns:a="http://schemas.openxmlformats.org/drawingml/2006/main">
              <a:ext uri="{FF2B5EF4-FFF2-40B4-BE49-F238E27FC236}">
                <a16:creationId xmlns:a16="http://schemas.microsoft.com/office/drawing/2014/main" id="{B17AD3D8-C342-44B4-B0AB-F7A7D7E9F6DD}"/>
              </a:ext>
            </a:extLst>
          </p:cNvPr>
          <p:cNvSpPr>
            <a:spLocks xmlns:a="http://schemas.openxmlformats.org/drawingml/2006/main" noGrp="1"/>
          </p:cNvSpPr>
          <p:nvPr/>
        </p:nvSpPr>
        <p:spPr>
          <a:xfrm xmlns:a="http://schemas.openxmlformats.org/drawingml/2006/main">
            <a:off x="1028700" y="2419350"/>
            <a:ext cx="16230600" cy="0"/>
          </a:xfrm>
          <a:prstGeom xmlns:a="http://schemas.openxmlformats.org/drawingml/2006/main" prst="line">
            <a:avLst/>
          </a:prstGeom>
          <a:ln xmlns:a="http://schemas.openxmlformats.org/drawingml/2006/main" w="28575">
            <a:solidFill>
              <a:srgbClr val="086F68"/>
            </a:solidFill>
          </a:ln>
        </p:spPr>
      </p:sp>
      <p:sp>
        <p:nvSpPr>
          <p:cNvPr id="5" name="footer">
            <a:extLst xmlns:a="http://schemas.openxmlformats.org/drawingml/2006/main">
              <a:ext uri="{FF2B5EF4-FFF2-40B4-BE49-F238E27FC236}">
                <a16:creationId xmlns:a16="http://schemas.microsoft.com/office/drawing/2014/main" id="{E6BEA796-1922-4DFA-904D-84B9459C1EB9}"/>
              </a:ext>
            </a:extLst>
          </p:cNvPr>
          <p:cNvSpPr>
            <a:spLocks xmlns:a="http://schemas.openxmlformats.org/drawingml/2006/main" noGrp="1"/>
          </p:cNvSpPr>
          <p:nvPr/>
        </p:nvSpPr>
        <p:spPr>
          <a:xfrm xmlns:a="http://schemas.openxmlformats.org/drawingml/2006/main">
            <a:off x="1028700" y="9734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67"/>
                </a:solidFill>
                <a:latin typeface="Open Sauce"/>
                <a:ea typeface="Open Sauce"/>
                <a:cs typeface="Open Sauce"/>
              </a:defRPr>
            </a:pPr>
            <a:r>
              <a:rPr sz="1650" b="0">
                <a:solidFill>
                  <a:srgbClr val="526767"/>
                </a:solidFill>
                <a:latin typeface="Open Sauce"/>
                <a:ea typeface="Open Sauce"/>
                <a:cs typeface="Open Sauce"/>
              </a:rPr>
              <a:t>Foliolet  /  HackSprint PS32</a:t>
            </a:r>
          </a:p>
        </p:txBody>
      </p:sp>
      <p:sp>
        <p:nvSpPr>
          <p:cNvPr id="6" name="page">
            <a:extLst xmlns:a="http://schemas.openxmlformats.org/drawingml/2006/main">
              <a:ext uri="{FF2B5EF4-FFF2-40B4-BE49-F238E27FC236}">
                <a16:creationId xmlns:a16="http://schemas.microsoft.com/office/drawing/2014/main" id="{6A354D54-C71B-4AE2-8AC3-A97A640B0D9D}"/>
              </a:ext>
            </a:extLst>
          </p:cNvPr>
          <p:cNvSpPr>
            <a:spLocks xmlns:a="http://schemas.openxmlformats.org/drawingml/2006/main" noGrp="1"/>
          </p:cNvSpPr>
          <p:nvPr/>
        </p:nvSpPr>
        <p:spPr>
          <a:xfrm xmlns:a="http://schemas.openxmlformats.org/drawingml/2006/main">
            <a:off x="16459200" y="973455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26767"/>
                </a:solidFill>
                <a:latin typeface="Open Sauce"/>
                <a:ea typeface="Open Sauce"/>
                <a:cs typeface="Open Sauce"/>
              </a:defRPr>
            </a:pPr>
            <a:r>
              <a:rPr sz="1650" b="0">
                <a:solidFill>
                  <a:srgbClr val="526767"/>
                </a:solidFill>
                <a:latin typeface="Open Sauce"/>
                <a:ea typeface="Open Sauce"/>
                <a:cs typeface="Open Sauce"/>
              </a:rPr>
              <a:t>06</a:t>
            </a:r>
          </a:p>
        </p:txBody>
      </p:sp>
      <p:sp>
        <p:nvSpPr>
          <p:cNvPr id="7" name="screens-intro">
            <a:extLst xmlns:a="http://schemas.openxmlformats.org/drawingml/2006/main">
              <a:ext uri="{FF2B5EF4-FFF2-40B4-BE49-F238E27FC236}">
                <a16:creationId xmlns:a16="http://schemas.microsoft.com/office/drawing/2014/main" id="{7B281324-18EB-4BE0-8CD9-840D4804D131}"/>
              </a:ext>
            </a:extLst>
          </p:cNvPr>
          <p:cNvSpPr>
            <a:spLocks xmlns:a="http://schemas.openxmlformats.org/drawingml/2006/main" noGrp="1"/>
          </p:cNvSpPr>
          <p:nvPr/>
        </p:nvSpPr>
        <p:spPr>
          <a:xfrm xmlns:a="http://schemas.openxmlformats.org/drawingml/2006/main">
            <a:off x="1028700" y="2857500"/>
            <a:ext cx="16230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B3A"/>
                </a:solidFill>
                <a:latin typeface="Open Sauce"/>
                <a:ea typeface="Open Sauce"/>
                <a:cs typeface="Open Sauce"/>
              </a:defRPr>
            </a:pPr>
            <a:r>
              <a:rPr sz="3375" b="1">
                <a:solidFill>
                  <a:srgbClr val="183B3A"/>
                </a:solidFill>
                <a:latin typeface="Open Sauce"/>
                <a:ea typeface="Open Sauce"/>
                <a:cs typeface="Open Sauce"/>
              </a:rPr>
              <a:t>The three screens that tell the demo story</a:t>
            </a:r>
          </a:p>
        </p:txBody>
      </p:sp>
      <p:sp>
        <p:nvSpPr>
          <p:cNvPr id="8" name="capture-title-0">
            <a:extLst xmlns:a="http://schemas.openxmlformats.org/drawingml/2006/main">
              <a:ext uri="{FF2B5EF4-FFF2-40B4-BE49-F238E27FC236}">
                <a16:creationId xmlns:a16="http://schemas.microsoft.com/office/drawing/2014/main" id="{E45D57BF-B60A-47B2-ACBD-6AFCA903EBA9}"/>
              </a:ext>
            </a:extLst>
          </p:cNvPr>
          <p:cNvSpPr>
            <a:spLocks xmlns:a="http://schemas.openxmlformats.org/drawingml/2006/main" noGrp="1"/>
          </p:cNvSpPr>
          <p:nvPr/>
        </p:nvSpPr>
        <p:spPr>
          <a:xfrm xmlns:a="http://schemas.openxmlformats.org/drawingml/2006/main">
            <a:off x="1028700" y="3838575"/>
            <a:ext cx="5181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01  Review the marksheet</a:t>
            </a:r>
          </a:p>
        </p:txBody>
      </p:sp>
      <p:sp>
        <p:nvSpPr>
          <p:cNvPr id="9" name="screenshot-placeholder-0">
            <a:extLst xmlns:a="http://schemas.openxmlformats.org/drawingml/2006/main">
              <a:ext uri="{FF2B5EF4-FFF2-40B4-BE49-F238E27FC236}">
                <a16:creationId xmlns:a16="http://schemas.microsoft.com/office/drawing/2014/main" id="{C0200416-FC9E-4E73-B1B1-2E446DB3744D}"/>
              </a:ext>
            </a:extLst>
          </p:cNvPr>
          <p:cNvSpPr>
            <a:spLocks xmlns:a="http://schemas.openxmlformats.org/drawingml/2006/main" noGrp="1"/>
          </p:cNvSpPr>
          <p:nvPr/>
        </p:nvSpPr>
        <p:spPr>
          <a:xfrm xmlns:a="http://schemas.openxmlformats.org/drawingml/2006/main">
            <a:off x="1028700" y="4810125"/>
            <a:ext cx="5181600" cy="3048000"/>
          </a:xfrm>
          <a:prstGeom xmlns:a="http://schemas.openxmlformats.org/drawingml/2006/main" prst="rect">
            <a:avLst/>
          </a:prstGeom>
          <a:solidFill xmlns:a="http://schemas.openxmlformats.org/drawingml/2006/main">
            <a:srgbClr val="F1F3EF"/>
          </a:solidFill>
          <a:ln xmlns:a="http://schemas.openxmlformats.org/drawingml/2006/main" w="19050">
            <a:solidFill>
              <a:srgbClr val="A8BFBA"/>
            </a:solidFill>
            <a:prstDash val="dash"/>
          </a:ln>
        </p:spPr>
      </p:sp>
      <p:sp>
        <p:nvSpPr>
          <p:cNvPr id="10" name="replace-label-0">
            <a:extLst xmlns:a="http://schemas.openxmlformats.org/drawingml/2006/main">
              <a:ext uri="{FF2B5EF4-FFF2-40B4-BE49-F238E27FC236}">
                <a16:creationId xmlns:a16="http://schemas.microsoft.com/office/drawing/2014/main" id="{FBBE349F-0C78-42AA-A673-742F01F67AFA}"/>
              </a:ext>
            </a:extLst>
          </p:cNvPr>
          <p:cNvSpPr>
            <a:spLocks xmlns:a="http://schemas.openxmlformats.org/drawingml/2006/main" noGrp="1"/>
          </p:cNvSpPr>
          <p:nvPr/>
        </p:nvSpPr>
        <p:spPr>
          <a:xfrm xmlns:a="http://schemas.openxmlformats.org/drawingml/2006/main">
            <a:off x="1362075" y="5857875"/>
            <a:ext cx="4514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526767"/>
                </a:solidFill>
                <a:latin typeface="Open Sauce"/>
                <a:ea typeface="Open Sauce"/>
                <a:cs typeface="Open Sauce"/>
              </a:defRPr>
            </a:pPr>
            <a:r>
              <a:rPr sz="2250" b="1">
                <a:solidFill>
                  <a:srgbClr val="526767"/>
                </a:solidFill>
                <a:latin typeface="Open Sauce"/>
                <a:ea typeface="Open Sauce"/>
                <a:cs typeface="Open Sauce"/>
              </a:rPr>
              <a:t>REPLACE WITH</a:t>
            </a:r>
          </a:p>
          <a:p xmlns:a="http://schemas.openxmlformats.org/drawingml/2006/main">
            <a:pPr algn="ctr">
              <a:defRPr sz="2250" b="1">
                <a:solidFill>
                  <a:srgbClr val="526767"/>
                </a:solidFill>
                <a:latin typeface="Open Sauce"/>
                <a:ea typeface="Open Sauce"/>
                <a:cs typeface="Open Sauce"/>
              </a:defRPr>
            </a:pPr>
            <a:r>
              <a:rPr sz="2250" b="1">
                <a:solidFill>
                  <a:srgbClr val="526767"/>
                </a:solidFill>
                <a:latin typeface="Open Sauce"/>
                <a:ea typeface="Open Sauce"/>
                <a:cs typeface="Open Sauce"/>
              </a:rPr>
              <a:t>FINAL SCREENSHOT</a:t>
            </a:r>
          </a:p>
        </p:txBody>
      </p:sp>
      <p:sp>
        <p:nvSpPr>
          <p:cNvPr id="11" name="capture-caption-0">
            <a:extLst xmlns:a="http://schemas.openxmlformats.org/drawingml/2006/main">
              <a:ext uri="{FF2B5EF4-FFF2-40B4-BE49-F238E27FC236}">
                <a16:creationId xmlns:a16="http://schemas.microsoft.com/office/drawing/2014/main" id="{A06FD3DF-64C6-483A-B3C0-30B1085A5516}"/>
              </a:ext>
            </a:extLst>
          </p:cNvPr>
          <p:cNvSpPr>
            <a:spLocks xmlns:a="http://schemas.openxmlformats.org/drawingml/2006/main" noGrp="1"/>
          </p:cNvSpPr>
          <p:nvPr/>
        </p:nvSpPr>
        <p:spPr>
          <a:xfrm xmlns:a="http://schemas.openxmlformats.org/drawingml/2006/main">
            <a:off x="1028700" y="8258175"/>
            <a:ext cx="5181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Holder confirms the facts</a:t>
            </a:r>
          </a:p>
          <a:p xmlns:a="http://schemas.openxmlformats.org/drawingml/2006/main">
            <a:pPr algn="l">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before commitment.</a:t>
            </a:r>
          </a:p>
        </p:txBody>
      </p:sp>
      <p:sp>
        <p:nvSpPr>
          <p:cNvPr id="12" name="capture-title-1">
            <a:extLst xmlns:a="http://schemas.openxmlformats.org/drawingml/2006/main">
              <a:ext uri="{FF2B5EF4-FFF2-40B4-BE49-F238E27FC236}">
                <a16:creationId xmlns:a16="http://schemas.microsoft.com/office/drawing/2014/main" id="{6FFB9D05-94E4-4EBC-9D34-53292C3C1361}"/>
              </a:ext>
            </a:extLst>
          </p:cNvPr>
          <p:cNvSpPr>
            <a:spLocks xmlns:a="http://schemas.openxmlformats.org/drawingml/2006/main" noGrp="1"/>
          </p:cNvSpPr>
          <p:nvPr/>
        </p:nvSpPr>
        <p:spPr>
          <a:xfrm xmlns:a="http://schemas.openxmlformats.org/drawingml/2006/main">
            <a:off x="6553200" y="3838575"/>
            <a:ext cx="5181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02  Select one fact</a:t>
            </a:r>
          </a:p>
        </p:txBody>
      </p:sp>
      <p:sp>
        <p:nvSpPr>
          <p:cNvPr id="13" name="screenshot-placeholder-1">
            <a:extLst xmlns:a="http://schemas.openxmlformats.org/drawingml/2006/main">
              <a:ext uri="{FF2B5EF4-FFF2-40B4-BE49-F238E27FC236}">
                <a16:creationId xmlns:a16="http://schemas.microsoft.com/office/drawing/2014/main" id="{F8EB153E-96D0-4013-B35D-C1AD472DEB97}"/>
              </a:ext>
            </a:extLst>
          </p:cNvPr>
          <p:cNvSpPr>
            <a:spLocks xmlns:a="http://schemas.openxmlformats.org/drawingml/2006/main" noGrp="1"/>
          </p:cNvSpPr>
          <p:nvPr/>
        </p:nvSpPr>
        <p:spPr>
          <a:xfrm xmlns:a="http://schemas.openxmlformats.org/drawingml/2006/main">
            <a:off x="6553200" y="4810125"/>
            <a:ext cx="5181600" cy="3048000"/>
          </a:xfrm>
          <a:prstGeom xmlns:a="http://schemas.openxmlformats.org/drawingml/2006/main" prst="rect">
            <a:avLst/>
          </a:prstGeom>
          <a:solidFill xmlns:a="http://schemas.openxmlformats.org/drawingml/2006/main">
            <a:srgbClr val="F1F3EF"/>
          </a:solidFill>
          <a:ln xmlns:a="http://schemas.openxmlformats.org/drawingml/2006/main" w="19050">
            <a:solidFill>
              <a:srgbClr val="A8BFBA"/>
            </a:solidFill>
            <a:prstDash val="dash"/>
          </a:ln>
        </p:spPr>
      </p:sp>
      <p:sp>
        <p:nvSpPr>
          <p:cNvPr id="14" name="replace-label-1">
            <a:extLst xmlns:a="http://schemas.openxmlformats.org/drawingml/2006/main">
              <a:ext uri="{FF2B5EF4-FFF2-40B4-BE49-F238E27FC236}">
                <a16:creationId xmlns:a16="http://schemas.microsoft.com/office/drawing/2014/main" id="{99253419-9572-468B-B132-F2E7BDB4B763}"/>
              </a:ext>
            </a:extLst>
          </p:cNvPr>
          <p:cNvSpPr>
            <a:spLocks xmlns:a="http://schemas.openxmlformats.org/drawingml/2006/main" noGrp="1"/>
          </p:cNvSpPr>
          <p:nvPr/>
        </p:nvSpPr>
        <p:spPr>
          <a:xfrm xmlns:a="http://schemas.openxmlformats.org/drawingml/2006/main">
            <a:off x="6886575" y="5857875"/>
            <a:ext cx="4514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526767"/>
                </a:solidFill>
                <a:latin typeface="Open Sauce"/>
                <a:ea typeface="Open Sauce"/>
                <a:cs typeface="Open Sauce"/>
              </a:defRPr>
            </a:pPr>
            <a:r>
              <a:rPr sz="2250" b="1">
                <a:solidFill>
                  <a:srgbClr val="526767"/>
                </a:solidFill>
                <a:latin typeface="Open Sauce"/>
                <a:ea typeface="Open Sauce"/>
                <a:cs typeface="Open Sauce"/>
              </a:rPr>
              <a:t>REPLACE WITH</a:t>
            </a:r>
          </a:p>
          <a:p xmlns:a="http://schemas.openxmlformats.org/drawingml/2006/main">
            <a:pPr algn="ctr">
              <a:defRPr sz="2250" b="1">
                <a:solidFill>
                  <a:srgbClr val="526767"/>
                </a:solidFill>
                <a:latin typeface="Open Sauce"/>
                <a:ea typeface="Open Sauce"/>
                <a:cs typeface="Open Sauce"/>
              </a:defRPr>
            </a:pPr>
            <a:r>
              <a:rPr sz="2250" b="1">
                <a:solidFill>
                  <a:srgbClr val="526767"/>
                </a:solidFill>
                <a:latin typeface="Open Sauce"/>
                <a:ea typeface="Open Sauce"/>
                <a:cs typeface="Open Sauce"/>
              </a:rPr>
              <a:t>FINAL SCREENSHOT</a:t>
            </a:r>
          </a:p>
        </p:txBody>
      </p:sp>
      <p:sp>
        <p:nvSpPr>
          <p:cNvPr id="15" name="capture-caption-1">
            <a:extLst xmlns:a="http://schemas.openxmlformats.org/drawingml/2006/main">
              <a:ext uri="{FF2B5EF4-FFF2-40B4-BE49-F238E27FC236}">
                <a16:creationId xmlns:a16="http://schemas.microsoft.com/office/drawing/2014/main" id="{08424086-B1C0-49C6-823A-91E50DF5D0AA}"/>
              </a:ext>
            </a:extLst>
          </p:cNvPr>
          <p:cNvSpPr>
            <a:spLocks xmlns:a="http://schemas.openxmlformats.org/drawingml/2006/main" noGrp="1"/>
          </p:cNvSpPr>
          <p:nvPr/>
        </p:nvSpPr>
        <p:spPr>
          <a:xfrm xmlns:a="http://schemas.openxmlformats.org/drawingml/2006/main">
            <a:off x="6553200" y="8258175"/>
            <a:ext cx="5181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One threshold disclosed;</a:t>
            </a:r>
          </a:p>
          <a:p xmlns:a="http://schemas.openxmlformats.org/drawingml/2006/main">
            <a:pPr algn="l">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five other facts stay private.</a:t>
            </a:r>
          </a:p>
        </p:txBody>
      </p:sp>
      <p:sp>
        <p:nvSpPr>
          <p:cNvPr id="16" name="capture-title-2">
            <a:extLst xmlns:a="http://schemas.openxmlformats.org/drawingml/2006/main">
              <a:ext uri="{FF2B5EF4-FFF2-40B4-BE49-F238E27FC236}">
                <a16:creationId xmlns:a16="http://schemas.microsoft.com/office/drawing/2014/main" id="{3A8F278F-4E5A-4D4A-96A9-5B1E16C93299}"/>
              </a:ext>
            </a:extLst>
          </p:cNvPr>
          <p:cNvSpPr>
            <a:spLocks xmlns:a="http://schemas.openxmlformats.org/drawingml/2006/main" noGrp="1"/>
          </p:cNvSpPr>
          <p:nvPr/>
        </p:nvSpPr>
        <p:spPr>
          <a:xfrm xmlns:a="http://schemas.openxmlformats.org/drawingml/2006/main">
            <a:off x="12077700" y="3838575"/>
            <a:ext cx="5181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B3A"/>
                </a:solidFill>
                <a:latin typeface="Open Sauce"/>
                <a:ea typeface="Open Sauce"/>
                <a:cs typeface="Open Sauce"/>
              </a:defRPr>
            </a:pPr>
            <a:r>
              <a:rPr sz="2325" b="1">
                <a:solidFill>
                  <a:srgbClr val="183B3A"/>
                </a:solidFill>
                <a:latin typeface="Open Sauce"/>
                <a:ea typeface="Open Sauce"/>
                <a:cs typeface="Open Sauce"/>
              </a:rPr>
              <a:t>03  Check the proof</a:t>
            </a:r>
          </a:p>
        </p:txBody>
      </p:sp>
      <p:sp>
        <p:nvSpPr>
          <p:cNvPr id="17" name="screenshot-placeholder-2">
            <a:extLst xmlns:a="http://schemas.openxmlformats.org/drawingml/2006/main">
              <a:ext uri="{FF2B5EF4-FFF2-40B4-BE49-F238E27FC236}">
                <a16:creationId xmlns:a16="http://schemas.microsoft.com/office/drawing/2014/main" id="{6867EA5F-FC65-422F-BC3A-4471C08BDEEB}"/>
              </a:ext>
            </a:extLst>
          </p:cNvPr>
          <p:cNvSpPr>
            <a:spLocks xmlns:a="http://schemas.openxmlformats.org/drawingml/2006/main" noGrp="1"/>
          </p:cNvSpPr>
          <p:nvPr/>
        </p:nvSpPr>
        <p:spPr>
          <a:xfrm xmlns:a="http://schemas.openxmlformats.org/drawingml/2006/main">
            <a:off x="12077700" y="4810125"/>
            <a:ext cx="5181600" cy="3048000"/>
          </a:xfrm>
          <a:prstGeom xmlns:a="http://schemas.openxmlformats.org/drawingml/2006/main" prst="rect">
            <a:avLst/>
          </a:prstGeom>
          <a:solidFill xmlns:a="http://schemas.openxmlformats.org/drawingml/2006/main">
            <a:srgbClr val="F1F3EF"/>
          </a:solidFill>
          <a:ln xmlns:a="http://schemas.openxmlformats.org/drawingml/2006/main" w="19050">
            <a:solidFill>
              <a:srgbClr val="A8BFBA"/>
            </a:solidFill>
            <a:prstDash val="dash"/>
          </a:ln>
        </p:spPr>
      </p:sp>
      <p:sp>
        <p:nvSpPr>
          <p:cNvPr id="18" name="replace-label-2">
            <a:extLst xmlns:a="http://schemas.openxmlformats.org/drawingml/2006/main">
              <a:ext uri="{FF2B5EF4-FFF2-40B4-BE49-F238E27FC236}">
                <a16:creationId xmlns:a16="http://schemas.microsoft.com/office/drawing/2014/main" id="{0E5B53E7-2F78-4651-9CA9-6C73DD689323}"/>
              </a:ext>
            </a:extLst>
          </p:cNvPr>
          <p:cNvSpPr>
            <a:spLocks xmlns:a="http://schemas.openxmlformats.org/drawingml/2006/main" noGrp="1"/>
          </p:cNvSpPr>
          <p:nvPr/>
        </p:nvSpPr>
        <p:spPr>
          <a:xfrm xmlns:a="http://schemas.openxmlformats.org/drawingml/2006/main">
            <a:off x="12411075" y="5857875"/>
            <a:ext cx="4514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526767"/>
                </a:solidFill>
                <a:latin typeface="Open Sauce"/>
                <a:ea typeface="Open Sauce"/>
                <a:cs typeface="Open Sauce"/>
              </a:defRPr>
            </a:pPr>
            <a:r>
              <a:rPr sz="2250" b="1">
                <a:solidFill>
                  <a:srgbClr val="526767"/>
                </a:solidFill>
                <a:latin typeface="Open Sauce"/>
                <a:ea typeface="Open Sauce"/>
                <a:cs typeface="Open Sauce"/>
              </a:rPr>
              <a:t>REPLACE WITH</a:t>
            </a:r>
          </a:p>
          <a:p xmlns:a="http://schemas.openxmlformats.org/drawingml/2006/main">
            <a:pPr algn="ctr">
              <a:defRPr sz="2250" b="1">
                <a:solidFill>
                  <a:srgbClr val="526767"/>
                </a:solidFill>
                <a:latin typeface="Open Sauce"/>
                <a:ea typeface="Open Sauce"/>
                <a:cs typeface="Open Sauce"/>
              </a:defRPr>
            </a:pPr>
            <a:r>
              <a:rPr sz="2250" b="1">
                <a:solidFill>
                  <a:srgbClr val="526767"/>
                </a:solidFill>
                <a:latin typeface="Open Sauce"/>
                <a:ea typeface="Open Sauce"/>
                <a:cs typeface="Open Sauce"/>
              </a:rPr>
              <a:t>FINAL SCREENSHOT</a:t>
            </a:r>
          </a:p>
        </p:txBody>
      </p:sp>
      <p:sp>
        <p:nvSpPr>
          <p:cNvPr id="19" name="capture-caption-2">
            <a:extLst xmlns:a="http://schemas.openxmlformats.org/drawingml/2006/main">
              <a:ext uri="{FF2B5EF4-FFF2-40B4-BE49-F238E27FC236}">
                <a16:creationId xmlns:a16="http://schemas.microsoft.com/office/drawing/2014/main" id="{B7CEECFC-4941-4193-AF21-C7DBF278F4E5}"/>
              </a:ext>
            </a:extLst>
          </p:cNvPr>
          <p:cNvSpPr>
            <a:spLocks xmlns:a="http://schemas.openxmlformats.org/drawingml/2006/main" noGrp="1"/>
          </p:cNvSpPr>
          <p:nvPr/>
        </p:nvSpPr>
        <p:spPr>
          <a:xfrm xmlns:a="http://schemas.openxmlformats.org/drawingml/2006/main">
            <a:off x="12077700" y="8258175"/>
            <a:ext cx="5181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Service result and independent</a:t>
            </a:r>
          </a:p>
          <a:p xmlns:a="http://schemas.openxmlformats.org/drawingml/2006/main">
            <a:pPr algn="l">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proof/chain result stay separate.</a:t>
            </a:r>
          </a:p>
        </p:txBody>
      </p:sp>
    </p:spTree>
    <p:extLst>
      <p:ext uri="{BB962C8B-B14F-4D97-AF65-F5344CB8AC3E}">
        <p14:creationId xmlns:p14="http://schemas.microsoft.com/office/powerpoint/2010/main" val="1111761941"/>
      </p:ext>
    </p:extLst>
  </p:cSld>
</p:sld>
</file>

<file path=ppt/slides/slide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C3591CB-06D1-44F0-8BE9-30A2F2B5397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dca4d0fd33a4445c"/>
            <a:stretch>
              <a:fillRect l="-7181" t="-19076" r="-3000" b="-11427"/>
            </a:stretch>
          </a:blipFill>
        </p:spPr>
      </p:sp>
      <p:sp>
        <p:nvSpPr>
          <p:cNvPr id="3" name="section-title">
            <a:extLst xmlns:a="http://schemas.openxmlformats.org/drawingml/2006/main">
              <a:ext uri="{FF2B5EF4-FFF2-40B4-BE49-F238E27FC236}">
                <a16:creationId xmlns:a16="http://schemas.microsoft.com/office/drawing/2014/main" id="{04E32FAB-0A07-4327-A87D-BE4B4F546BA1}"/>
              </a:ext>
            </a:extLst>
          </p:cNvPr>
          <p:cNvSpPr>
            <a:spLocks xmlns:a="http://schemas.openxmlformats.org/drawingml/2006/main" noGrp="1"/>
          </p:cNvSpPr>
          <p:nvPr/>
        </p:nvSpPr>
        <p:spPr>
          <a:xfrm xmlns:a="http://schemas.openxmlformats.org/drawingml/2006/main">
            <a:off x="1028700" y="723900"/>
            <a:ext cx="16049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75" b="0">
                <a:solidFill>
                  <a:srgbClr val="183B3A"/>
                </a:solidFill>
                <a:latin typeface="Times New Roman MT Condensed"/>
                <a:ea typeface="Times New Roman MT Condensed"/>
                <a:cs typeface="Times New Roman MT Condensed"/>
              </a:defRPr>
            </a:pPr>
            <a:r>
              <a:rPr sz="7875" b="0">
                <a:solidFill>
                  <a:srgbClr val="183B3A"/>
                </a:solidFill>
                <a:latin typeface="Times New Roman MT Condensed"/>
                <a:ea typeface="Times New Roman MT Condensed"/>
                <a:cs typeface="Times New Roman MT Condensed"/>
              </a:rPr>
              <a:t>Others</a:t>
            </a:r>
          </a:p>
        </p:txBody>
      </p:sp>
      <p:sp>
        <p:nvSpPr>
          <p:cNvPr id="4" name="header-rule">
            <a:extLst xmlns:a="http://schemas.openxmlformats.org/drawingml/2006/main">
              <a:ext uri="{FF2B5EF4-FFF2-40B4-BE49-F238E27FC236}">
                <a16:creationId xmlns:a16="http://schemas.microsoft.com/office/drawing/2014/main" id="{52D9309B-95DA-46F8-81BC-091A334C7049}"/>
              </a:ext>
            </a:extLst>
          </p:cNvPr>
          <p:cNvSpPr>
            <a:spLocks xmlns:a="http://schemas.openxmlformats.org/drawingml/2006/main" noGrp="1"/>
          </p:cNvSpPr>
          <p:nvPr/>
        </p:nvSpPr>
        <p:spPr>
          <a:xfrm xmlns:a="http://schemas.openxmlformats.org/drawingml/2006/main">
            <a:off x="1028700" y="2419350"/>
            <a:ext cx="16230600" cy="0"/>
          </a:xfrm>
          <a:prstGeom xmlns:a="http://schemas.openxmlformats.org/drawingml/2006/main" prst="line">
            <a:avLst/>
          </a:prstGeom>
          <a:ln xmlns:a="http://schemas.openxmlformats.org/drawingml/2006/main" w="28575">
            <a:solidFill>
              <a:srgbClr val="086F68"/>
            </a:solidFill>
          </a:ln>
        </p:spPr>
      </p:sp>
      <p:sp>
        <p:nvSpPr>
          <p:cNvPr id="5" name="footer">
            <a:extLst xmlns:a="http://schemas.openxmlformats.org/drawingml/2006/main">
              <a:ext uri="{FF2B5EF4-FFF2-40B4-BE49-F238E27FC236}">
                <a16:creationId xmlns:a16="http://schemas.microsoft.com/office/drawing/2014/main" id="{6A295F07-0B37-4A82-82A9-794CE9892D7D}"/>
              </a:ext>
            </a:extLst>
          </p:cNvPr>
          <p:cNvSpPr>
            <a:spLocks xmlns:a="http://schemas.openxmlformats.org/drawingml/2006/main" noGrp="1"/>
          </p:cNvSpPr>
          <p:nvPr/>
        </p:nvSpPr>
        <p:spPr>
          <a:xfrm xmlns:a="http://schemas.openxmlformats.org/drawingml/2006/main">
            <a:off x="1028700" y="9734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67"/>
                </a:solidFill>
                <a:latin typeface="Open Sauce"/>
                <a:ea typeface="Open Sauce"/>
                <a:cs typeface="Open Sauce"/>
              </a:defRPr>
            </a:pPr>
            <a:r>
              <a:rPr sz="1650" b="0">
                <a:solidFill>
                  <a:srgbClr val="526767"/>
                </a:solidFill>
                <a:latin typeface="Open Sauce"/>
                <a:ea typeface="Open Sauce"/>
                <a:cs typeface="Open Sauce"/>
              </a:rPr>
              <a:t>Foliolet  /  HackSprint PS32</a:t>
            </a:r>
          </a:p>
        </p:txBody>
      </p:sp>
      <p:sp>
        <p:nvSpPr>
          <p:cNvPr id="6" name="page">
            <a:extLst xmlns:a="http://schemas.openxmlformats.org/drawingml/2006/main">
              <a:ext uri="{FF2B5EF4-FFF2-40B4-BE49-F238E27FC236}">
                <a16:creationId xmlns:a16="http://schemas.microsoft.com/office/drawing/2014/main" id="{33DBCC4F-B4A9-4584-B561-F54F77AAD8F5}"/>
              </a:ext>
            </a:extLst>
          </p:cNvPr>
          <p:cNvSpPr>
            <a:spLocks xmlns:a="http://schemas.openxmlformats.org/drawingml/2006/main" noGrp="1"/>
          </p:cNvSpPr>
          <p:nvPr/>
        </p:nvSpPr>
        <p:spPr>
          <a:xfrm xmlns:a="http://schemas.openxmlformats.org/drawingml/2006/main">
            <a:off x="16459200" y="973455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26767"/>
                </a:solidFill>
                <a:latin typeface="Open Sauce"/>
                <a:ea typeface="Open Sauce"/>
                <a:cs typeface="Open Sauce"/>
              </a:defRPr>
            </a:pPr>
            <a:r>
              <a:rPr sz="1650" b="0">
                <a:solidFill>
                  <a:srgbClr val="526767"/>
                </a:solidFill>
                <a:latin typeface="Open Sauce"/>
                <a:ea typeface="Open Sauce"/>
                <a:cs typeface="Open Sauce"/>
              </a:rPr>
              <a:t>07</a:t>
            </a:r>
          </a:p>
        </p:txBody>
      </p:sp>
      <p:sp>
        <p:nvSpPr>
          <p:cNvPr id="7" name="execution">
            <a:extLst xmlns:a="http://schemas.openxmlformats.org/drawingml/2006/main">
              <a:ext uri="{FF2B5EF4-FFF2-40B4-BE49-F238E27FC236}">
                <a16:creationId xmlns:a16="http://schemas.microsoft.com/office/drawing/2014/main" id="{869733A7-4D19-4A44-B40C-7C5BDC0C2210}"/>
              </a:ext>
            </a:extLst>
          </p:cNvPr>
          <p:cNvSpPr>
            <a:spLocks xmlns:a="http://schemas.openxmlformats.org/drawingml/2006/main" noGrp="1"/>
          </p:cNvSpPr>
          <p:nvPr/>
        </p:nvSpPr>
        <p:spPr>
          <a:xfrm xmlns:a="http://schemas.openxmlformats.org/drawingml/2006/main">
            <a:off x="1028700" y="2876550"/>
            <a:ext cx="1623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83B3A"/>
                </a:solidFill>
                <a:latin typeface="Open Sauce"/>
                <a:ea typeface="Open Sauce"/>
                <a:cs typeface="Open Sauce"/>
              </a:defRPr>
            </a:pPr>
            <a:r>
              <a:rPr sz="4050" b="1">
                <a:solidFill>
                  <a:srgbClr val="183B3A"/>
                </a:solidFill>
                <a:latin typeface="Open Sauce"/>
                <a:ea typeface="Open Sauce"/>
                <a:cs typeface="Open Sauce"/>
              </a:rPr>
              <a:t>Built and tested end to end</a:t>
            </a:r>
          </a:p>
        </p:txBody>
      </p:sp>
      <p:sp>
        <p:nvSpPr>
          <p:cNvPr id="8" name="metric-0">
            <a:extLst xmlns:a="http://schemas.openxmlformats.org/drawingml/2006/main">
              <a:ext uri="{FF2B5EF4-FFF2-40B4-BE49-F238E27FC236}">
                <a16:creationId xmlns:a16="http://schemas.microsoft.com/office/drawing/2014/main" id="{080808B5-AEBD-4C44-87B2-17C3A9246DC5}"/>
              </a:ext>
            </a:extLst>
          </p:cNvPr>
          <p:cNvSpPr>
            <a:spLocks xmlns:a="http://schemas.openxmlformats.org/drawingml/2006/main" noGrp="1"/>
          </p:cNvSpPr>
          <p:nvPr/>
        </p:nvSpPr>
        <p:spPr>
          <a:xfrm xmlns:a="http://schemas.openxmlformats.org/drawingml/2006/main">
            <a:off x="1028700" y="4067175"/>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086F68"/>
                </a:solidFill>
                <a:latin typeface="Open Sauce"/>
                <a:ea typeface="Open Sauce"/>
                <a:cs typeface="Open Sauce"/>
              </a:defRPr>
            </a:pPr>
            <a:r>
              <a:rPr sz="6300" b="1">
                <a:solidFill>
                  <a:srgbClr val="086F68"/>
                </a:solidFill>
                <a:latin typeface="Open Sauce"/>
                <a:ea typeface="Open Sauce"/>
                <a:cs typeface="Open Sauce"/>
              </a:rPr>
              <a:t>14</a:t>
            </a:r>
          </a:p>
        </p:txBody>
      </p:sp>
      <p:sp>
        <p:nvSpPr>
          <p:cNvPr id="9" name="metric-label-0">
            <a:extLst xmlns:a="http://schemas.openxmlformats.org/drawingml/2006/main">
              <a:ext uri="{FF2B5EF4-FFF2-40B4-BE49-F238E27FC236}">
                <a16:creationId xmlns:a16="http://schemas.microsoft.com/office/drawing/2014/main" id="{C8D64A53-E1BB-4D55-96E7-4C978A7AC9C7}"/>
              </a:ext>
            </a:extLst>
          </p:cNvPr>
          <p:cNvSpPr>
            <a:spLocks xmlns:a="http://schemas.openxmlformats.org/drawingml/2006/main" noGrp="1"/>
          </p:cNvSpPr>
          <p:nvPr/>
        </p:nvSpPr>
        <p:spPr>
          <a:xfrm xmlns:a="http://schemas.openxmlformats.org/drawingml/2006/main">
            <a:off x="1028700" y="5162550"/>
            <a:ext cx="2362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B3A"/>
                </a:solidFill>
                <a:latin typeface="Open Sauce"/>
                <a:ea typeface="Open Sauce"/>
                <a:cs typeface="Open Sauce"/>
              </a:defRPr>
            </a:pPr>
            <a:r>
              <a:rPr sz="2100" b="0">
                <a:solidFill>
                  <a:srgbClr val="183B3A"/>
                </a:solidFill>
                <a:latin typeface="Open Sauce"/>
                <a:ea typeface="Open Sauce"/>
                <a:cs typeface="Open Sauce"/>
              </a:rPr>
              <a:t>Backend tests</a:t>
            </a:r>
          </a:p>
        </p:txBody>
      </p:sp>
      <p:sp>
        <p:nvSpPr>
          <p:cNvPr id="10" name="metric-1">
            <a:extLst xmlns:a="http://schemas.openxmlformats.org/drawingml/2006/main">
              <a:ext uri="{FF2B5EF4-FFF2-40B4-BE49-F238E27FC236}">
                <a16:creationId xmlns:a16="http://schemas.microsoft.com/office/drawing/2014/main" id="{10B64419-FCFE-4C6A-9808-6449026F5C6F}"/>
              </a:ext>
            </a:extLst>
          </p:cNvPr>
          <p:cNvSpPr>
            <a:spLocks xmlns:a="http://schemas.openxmlformats.org/drawingml/2006/main" noGrp="1"/>
          </p:cNvSpPr>
          <p:nvPr/>
        </p:nvSpPr>
        <p:spPr>
          <a:xfrm xmlns:a="http://schemas.openxmlformats.org/drawingml/2006/main">
            <a:off x="3743325" y="4067175"/>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086F68"/>
                </a:solidFill>
                <a:latin typeface="Open Sauce"/>
                <a:ea typeface="Open Sauce"/>
                <a:cs typeface="Open Sauce"/>
              </a:defRPr>
            </a:pPr>
            <a:r>
              <a:rPr sz="6300" b="1">
                <a:solidFill>
                  <a:srgbClr val="086F68"/>
                </a:solidFill>
                <a:latin typeface="Open Sauce"/>
                <a:ea typeface="Open Sauce"/>
                <a:cs typeface="Open Sauce"/>
              </a:rPr>
              <a:t>19</a:t>
            </a:r>
          </a:p>
        </p:txBody>
      </p:sp>
      <p:sp>
        <p:nvSpPr>
          <p:cNvPr id="11" name="metric-label-1">
            <a:extLst xmlns:a="http://schemas.openxmlformats.org/drawingml/2006/main">
              <a:ext uri="{FF2B5EF4-FFF2-40B4-BE49-F238E27FC236}">
                <a16:creationId xmlns:a16="http://schemas.microsoft.com/office/drawing/2014/main" id="{2D720A4C-588A-4E1B-9220-1B097F3A51A5}"/>
              </a:ext>
            </a:extLst>
          </p:cNvPr>
          <p:cNvSpPr>
            <a:spLocks xmlns:a="http://schemas.openxmlformats.org/drawingml/2006/main" noGrp="1"/>
          </p:cNvSpPr>
          <p:nvPr/>
        </p:nvSpPr>
        <p:spPr>
          <a:xfrm xmlns:a="http://schemas.openxmlformats.org/drawingml/2006/main">
            <a:off x="3743325" y="5162550"/>
            <a:ext cx="2362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B3A"/>
                </a:solidFill>
                <a:latin typeface="Open Sauce"/>
                <a:ea typeface="Open Sauce"/>
                <a:cs typeface="Open Sauce"/>
              </a:defRPr>
            </a:pPr>
            <a:r>
              <a:rPr sz="2100" b="0">
                <a:solidFill>
                  <a:srgbClr val="183B3A"/>
                </a:solidFill>
                <a:latin typeface="Open Sauce"/>
                <a:ea typeface="Open Sauce"/>
                <a:cs typeface="Open Sauce"/>
              </a:rPr>
              <a:t>Django tests</a:t>
            </a:r>
          </a:p>
        </p:txBody>
      </p:sp>
      <p:sp>
        <p:nvSpPr>
          <p:cNvPr id="12" name="metric-2">
            <a:extLst xmlns:a="http://schemas.openxmlformats.org/drawingml/2006/main">
              <a:ext uri="{FF2B5EF4-FFF2-40B4-BE49-F238E27FC236}">
                <a16:creationId xmlns:a16="http://schemas.microsoft.com/office/drawing/2014/main" id="{7F01D954-CA97-4C56-95E0-9E6AA505C873}"/>
              </a:ext>
            </a:extLst>
          </p:cNvPr>
          <p:cNvSpPr>
            <a:spLocks xmlns:a="http://schemas.openxmlformats.org/drawingml/2006/main" noGrp="1"/>
          </p:cNvSpPr>
          <p:nvPr/>
        </p:nvSpPr>
        <p:spPr>
          <a:xfrm xmlns:a="http://schemas.openxmlformats.org/drawingml/2006/main">
            <a:off x="6457950" y="4067175"/>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086F68"/>
                </a:solidFill>
                <a:latin typeface="Open Sauce"/>
                <a:ea typeface="Open Sauce"/>
                <a:cs typeface="Open Sauce"/>
              </a:defRPr>
            </a:pPr>
            <a:r>
              <a:rPr sz="6300" b="1">
                <a:solidFill>
                  <a:srgbClr val="086F68"/>
                </a:solidFill>
                <a:latin typeface="Open Sauce"/>
                <a:ea typeface="Open Sauce"/>
                <a:cs typeface="Open Sauce"/>
              </a:rPr>
              <a:t>22</a:t>
            </a:r>
          </a:p>
        </p:txBody>
      </p:sp>
      <p:sp>
        <p:nvSpPr>
          <p:cNvPr id="13" name="metric-label-2">
            <a:extLst xmlns:a="http://schemas.openxmlformats.org/drawingml/2006/main">
              <a:ext uri="{FF2B5EF4-FFF2-40B4-BE49-F238E27FC236}">
                <a16:creationId xmlns:a16="http://schemas.microsoft.com/office/drawing/2014/main" id="{3471A065-EEC0-4D16-A288-D2AFFA1594BC}"/>
              </a:ext>
            </a:extLst>
          </p:cNvPr>
          <p:cNvSpPr>
            <a:spLocks xmlns:a="http://schemas.openxmlformats.org/drawingml/2006/main" noGrp="1"/>
          </p:cNvSpPr>
          <p:nvPr/>
        </p:nvSpPr>
        <p:spPr>
          <a:xfrm xmlns:a="http://schemas.openxmlformats.org/drawingml/2006/main">
            <a:off x="6457950" y="5162550"/>
            <a:ext cx="2362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B3A"/>
                </a:solidFill>
                <a:latin typeface="Open Sauce"/>
                <a:ea typeface="Open Sauce"/>
                <a:cs typeface="Open Sauce"/>
              </a:defRPr>
            </a:pPr>
            <a:r>
              <a:rPr sz="2100" b="0">
                <a:solidFill>
                  <a:srgbClr val="183B3A"/>
                </a:solidFill>
                <a:latin typeface="Open Sauce"/>
                <a:ea typeface="Open Sauce"/>
                <a:cs typeface="Open Sauce"/>
              </a:rPr>
              <a:t>Browser / Node</a:t>
            </a:r>
          </a:p>
        </p:txBody>
      </p:sp>
      <p:sp>
        <p:nvSpPr>
          <p:cNvPr id="14" name="metric-3">
            <a:extLst xmlns:a="http://schemas.openxmlformats.org/drawingml/2006/main">
              <a:ext uri="{FF2B5EF4-FFF2-40B4-BE49-F238E27FC236}">
                <a16:creationId xmlns:a16="http://schemas.microsoft.com/office/drawing/2014/main" id="{8272330B-6E1C-4CFA-99C4-A5EC8AEA38B1}"/>
              </a:ext>
            </a:extLst>
          </p:cNvPr>
          <p:cNvSpPr>
            <a:spLocks xmlns:a="http://schemas.openxmlformats.org/drawingml/2006/main" noGrp="1"/>
          </p:cNvSpPr>
          <p:nvPr/>
        </p:nvSpPr>
        <p:spPr>
          <a:xfrm xmlns:a="http://schemas.openxmlformats.org/drawingml/2006/main">
            <a:off x="9172575" y="4067175"/>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086F68"/>
                </a:solidFill>
                <a:latin typeface="Open Sauce"/>
                <a:ea typeface="Open Sauce"/>
                <a:cs typeface="Open Sauce"/>
              </a:defRPr>
            </a:pPr>
            <a:r>
              <a:rPr sz="6300" b="1">
                <a:solidFill>
                  <a:srgbClr val="086F68"/>
                </a:solidFill>
                <a:latin typeface="Open Sauce"/>
                <a:ea typeface="Open Sauce"/>
                <a:cs typeface="Open Sauce"/>
              </a:rPr>
              <a:t>51</a:t>
            </a:r>
          </a:p>
        </p:txBody>
      </p:sp>
      <p:sp>
        <p:nvSpPr>
          <p:cNvPr id="15" name="metric-label-3">
            <a:extLst xmlns:a="http://schemas.openxmlformats.org/drawingml/2006/main">
              <a:ext uri="{FF2B5EF4-FFF2-40B4-BE49-F238E27FC236}">
                <a16:creationId xmlns:a16="http://schemas.microsoft.com/office/drawing/2014/main" id="{4B22DDFE-F7FB-4B2F-BF34-58D2B2D4C695}"/>
              </a:ext>
            </a:extLst>
          </p:cNvPr>
          <p:cNvSpPr>
            <a:spLocks xmlns:a="http://schemas.openxmlformats.org/drawingml/2006/main" noGrp="1"/>
          </p:cNvSpPr>
          <p:nvPr/>
        </p:nvSpPr>
        <p:spPr>
          <a:xfrm xmlns:a="http://schemas.openxmlformats.org/drawingml/2006/main">
            <a:off x="9172575" y="5162550"/>
            <a:ext cx="2362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B3A"/>
                </a:solidFill>
                <a:latin typeface="Open Sauce"/>
                <a:ea typeface="Open Sauce"/>
                <a:cs typeface="Open Sauce"/>
              </a:defRPr>
            </a:pPr>
            <a:r>
              <a:rPr sz="2100" b="0">
                <a:solidFill>
                  <a:srgbClr val="183B3A"/>
                </a:solidFill>
                <a:latin typeface="Open Sauce"/>
                <a:ea typeface="Open Sauce"/>
                <a:cs typeface="Open Sauce"/>
              </a:rPr>
              <a:t>Live integration</a:t>
            </a:r>
          </a:p>
        </p:txBody>
      </p:sp>
      <p:sp>
        <p:nvSpPr>
          <p:cNvPr id="16" name="metric-4">
            <a:extLst xmlns:a="http://schemas.openxmlformats.org/drawingml/2006/main">
              <a:ext uri="{FF2B5EF4-FFF2-40B4-BE49-F238E27FC236}">
                <a16:creationId xmlns:a16="http://schemas.microsoft.com/office/drawing/2014/main" id="{03240D70-75BA-491A-A932-05A67C3DCC73}"/>
              </a:ext>
            </a:extLst>
          </p:cNvPr>
          <p:cNvSpPr>
            <a:spLocks xmlns:a="http://schemas.openxmlformats.org/drawingml/2006/main" noGrp="1"/>
          </p:cNvSpPr>
          <p:nvPr/>
        </p:nvSpPr>
        <p:spPr>
          <a:xfrm xmlns:a="http://schemas.openxmlformats.org/drawingml/2006/main">
            <a:off x="11887200" y="4067175"/>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086F68"/>
                </a:solidFill>
                <a:latin typeface="Open Sauce"/>
                <a:ea typeface="Open Sauce"/>
                <a:cs typeface="Open Sauce"/>
              </a:defRPr>
            </a:pPr>
            <a:r>
              <a:rPr sz="6300" b="1">
                <a:solidFill>
                  <a:srgbClr val="086F68"/>
                </a:solidFill>
                <a:latin typeface="Open Sauce"/>
                <a:ea typeface="Open Sauce"/>
                <a:cs typeface="Open Sauce"/>
              </a:rPr>
              <a:t>23</a:t>
            </a:r>
          </a:p>
        </p:txBody>
      </p:sp>
      <p:sp>
        <p:nvSpPr>
          <p:cNvPr id="17" name="metric-label-4">
            <a:extLst xmlns:a="http://schemas.openxmlformats.org/drawingml/2006/main">
              <a:ext uri="{FF2B5EF4-FFF2-40B4-BE49-F238E27FC236}">
                <a16:creationId xmlns:a16="http://schemas.microsoft.com/office/drawing/2014/main" id="{4925CE6E-1273-44B3-834D-2450EC1E1AD2}"/>
              </a:ext>
            </a:extLst>
          </p:cNvPr>
          <p:cNvSpPr>
            <a:spLocks xmlns:a="http://schemas.openxmlformats.org/drawingml/2006/main" noGrp="1"/>
          </p:cNvSpPr>
          <p:nvPr/>
        </p:nvSpPr>
        <p:spPr>
          <a:xfrm xmlns:a="http://schemas.openxmlformats.org/drawingml/2006/main">
            <a:off x="11887200" y="5162550"/>
            <a:ext cx="2362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B3A"/>
                </a:solidFill>
                <a:latin typeface="Open Sauce"/>
                <a:ea typeface="Open Sauce"/>
                <a:cs typeface="Open Sauce"/>
              </a:defRPr>
            </a:pPr>
            <a:r>
              <a:rPr sz="2100" b="0">
                <a:solidFill>
                  <a:srgbClr val="183B3A"/>
                </a:solidFill>
                <a:latin typeface="Open Sauce"/>
                <a:ea typeface="Open Sauce"/>
                <a:cs typeface="Open Sauce"/>
              </a:rPr>
              <a:t>Live security</a:t>
            </a:r>
          </a:p>
        </p:txBody>
      </p:sp>
      <p:sp>
        <p:nvSpPr>
          <p:cNvPr id="18" name="metric-5">
            <a:extLst xmlns:a="http://schemas.openxmlformats.org/drawingml/2006/main">
              <a:ext uri="{FF2B5EF4-FFF2-40B4-BE49-F238E27FC236}">
                <a16:creationId xmlns:a16="http://schemas.microsoft.com/office/drawing/2014/main" id="{47886A3D-F76D-422F-B24A-022C0B58850E}"/>
              </a:ext>
            </a:extLst>
          </p:cNvPr>
          <p:cNvSpPr>
            <a:spLocks xmlns:a="http://schemas.openxmlformats.org/drawingml/2006/main" noGrp="1"/>
          </p:cNvSpPr>
          <p:nvPr/>
        </p:nvSpPr>
        <p:spPr>
          <a:xfrm xmlns:a="http://schemas.openxmlformats.org/drawingml/2006/main">
            <a:off x="14601825" y="4067175"/>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086F68"/>
                </a:solidFill>
                <a:latin typeface="Open Sauce"/>
                <a:ea typeface="Open Sauce"/>
                <a:cs typeface="Open Sauce"/>
              </a:defRPr>
            </a:pPr>
            <a:r>
              <a:rPr sz="6300" b="1">
                <a:solidFill>
                  <a:srgbClr val="086F68"/>
                </a:solidFill>
                <a:latin typeface="Open Sauce"/>
                <a:ea typeface="Open Sauce"/>
                <a:cs typeface="Open Sauce"/>
              </a:rPr>
              <a:t>7</a:t>
            </a:r>
          </a:p>
        </p:txBody>
      </p:sp>
      <p:sp>
        <p:nvSpPr>
          <p:cNvPr id="19" name="metric-label-5">
            <a:extLst xmlns:a="http://schemas.openxmlformats.org/drawingml/2006/main">
              <a:ext uri="{FF2B5EF4-FFF2-40B4-BE49-F238E27FC236}">
                <a16:creationId xmlns:a16="http://schemas.microsoft.com/office/drawing/2014/main" id="{50465DF2-E389-44ED-B11A-20D992541D4A}"/>
              </a:ext>
            </a:extLst>
          </p:cNvPr>
          <p:cNvSpPr>
            <a:spLocks xmlns:a="http://schemas.openxmlformats.org/drawingml/2006/main" noGrp="1"/>
          </p:cNvSpPr>
          <p:nvPr/>
        </p:nvSpPr>
        <p:spPr>
          <a:xfrm xmlns:a="http://schemas.openxmlformats.org/drawingml/2006/main">
            <a:off x="14601825" y="5162550"/>
            <a:ext cx="2362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B3A"/>
                </a:solidFill>
                <a:latin typeface="Open Sauce"/>
                <a:ea typeface="Open Sauce"/>
                <a:cs typeface="Open Sauce"/>
              </a:defRPr>
            </a:pPr>
            <a:r>
              <a:rPr sz="2100" b="0">
                <a:solidFill>
                  <a:srgbClr val="183B3A"/>
                </a:solidFill>
                <a:latin typeface="Open Sauce"/>
                <a:ea typeface="Open Sauce"/>
                <a:cs typeface="Open Sauce"/>
              </a:rPr>
              <a:t>Merkle tree shapes</a:t>
            </a:r>
          </a:p>
        </p:txBody>
      </p:sp>
      <p:sp>
        <p:nvSpPr>
          <p:cNvPr id="20" name="evidence-rule">
            <a:extLst xmlns:a="http://schemas.openxmlformats.org/drawingml/2006/main">
              <a:ext uri="{FF2B5EF4-FFF2-40B4-BE49-F238E27FC236}">
                <a16:creationId xmlns:a16="http://schemas.microsoft.com/office/drawing/2014/main" id="{F0B3FD37-3904-4BB8-9D8A-2102BA17DCE9}"/>
              </a:ext>
            </a:extLst>
          </p:cNvPr>
          <p:cNvSpPr>
            <a:spLocks xmlns:a="http://schemas.openxmlformats.org/drawingml/2006/main" noGrp="1"/>
          </p:cNvSpPr>
          <p:nvPr/>
        </p:nvSpPr>
        <p:spPr>
          <a:xfrm xmlns:a="http://schemas.openxmlformats.org/drawingml/2006/main">
            <a:off x="1028700" y="6076950"/>
            <a:ext cx="16230600" cy="0"/>
          </a:xfrm>
          <a:prstGeom xmlns:a="http://schemas.openxmlformats.org/drawingml/2006/main" prst="line">
            <a:avLst/>
          </a:prstGeom>
          <a:ln xmlns:a="http://schemas.openxmlformats.org/drawingml/2006/main" w="19050">
            <a:solidFill>
              <a:srgbClr val="A8BFBA"/>
            </a:solidFill>
          </a:ln>
        </p:spPr>
      </p:sp>
      <p:sp>
        <p:nvSpPr>
          <p:cNvPr id="21" name="proved-title">
            <a:extLst xmlns:a="http://schemas.openxmlformats.org/drawingml/2006/main">
              <a:ext uri="{FF2B5EF4-FFF2-40B4-BE49-F238E27FC236}">
                <a16:creationId xmlns:a16="http://schemas.microsoft.com/office/drawing/2014/main" id="{2AAC30CC-54F9-4511-9756-0BE72BB9245F}"/>
              </a:ext>
            </a:extLst>
          </p:cNvPr>
          <p:cNvSpPr>
            <a:spLocks xmlns:a="http://schemas.openxmlformats.org/drawingml/2006/main" noGrp="1"/>
          </p:cNvSpPr>
          <p:nvPr/>
        </p:nvSpPr>
        <p:spPr>
          <a:xfrm xmlns:a="http://schemas.openxmlformats.org/drawingml/2006/main">
            <a:off x="1028700" y="6505575"/>
            <a:ext cx="781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B3A"/>
                </a:solidFill>
                <a:latin typeface="Open Sauce"/>
                <a:ea typeface="Open Sauce"/>
                <a:cs typeface="Open Sauce"/>
              </a:defRPr>
            </a:pPr>
            <a:r>
              <a:rPr sz="2625" b="1">
                <a:solidFill>
                  <a:srgbClr val="183B3A"/>
                </a:solidFill>
                <a:latin typeface="Open Sauce"/>
                <a:ea typeface="Open Sauce"/>
                <a:cs typeface="Open Sauce"/>
              </a:rPr>
              <a:t>Demonstrated</a:t>
            </a:r>
          </a:p>
        </p:txBody>
      </p:sp>
      <p:sp>
        <p:nvSpPr>
          <p:cNvPr id="22" name="proved">
            <a:extLst xmlns:a="http://schemas.openxmlformats.org/drawingml/2006/main">
              <a:ext uri="{FF2B5EF4-FFF2-40B4-BE49-F238E27FC236}">
                <a16:creationId xmlns:a16="http://schemas.microsoft.com/office/drawing/2014/main" id="{E036C3D6-2745-491D-B61A-BC6E9CA8EAF6}"/>
              </a:ext>
            </a:extLst>
          </p:cNvPr>
          <p:cNvSpPr>
            <a:spLocks xmlns:a="http://schemas.openxmlformats.org/drawingml/2006/main" noGrp="1"/>
          </p:cNvSpPr>
          <p:nvPr/>
        </p:nvSpPr>
        <p:spPr>
          <a:xfrm xmlns:a="http://schemas.openxmlformats.org/drawingml/2006/main">
            <a:off x="1028700" y="7181850"/>
            <a:ext cx="8572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Independent browser + Node checks</a:t>
            </a:r>
          </a:p>
          <a:p xmlns:a="http://schemas.openxmlformats.org/drawingml/2006/main">
            <a:pPr algn="l">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Tampered proofs rejected</a:t>
            </a:r>
          </a:p>
          <a:p xmlns:a="http://schemas.openxmlformats.org/drawingml/2006/main">
            <a:pPr algn="l">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Hidden values/salts omitted; release policies enforced</a:t>
            </a:r>
          </a:p>
        </p:txBody>
      </p:sp>
      <p:sp>
        <p:nvSpPr>
          <p:cNvPr id="23" name="next-title">
            <a:extLst xmlns:a="http://schemas.openxmlformats.org/drawingml/2006/main">
              <a:ext uri="{FF2B5EF4-FFF2-40B4-BE49-F238E27FC236}">
                <a16:creationId xmlns:a16="http://schemas.microsoft.com/office/drawing/2014/main" id="{897E17EC-5098-43CB-B976-27523CA14D47}"/>
              </a:ext>
            </a:extLst>
          </p:cNvPr>
          <p:cNvSpPr>
            <a:spLocks xmlns:a="http://schemas.openxmlformats.org/drawingml/2006/main" noGrp="1"/>
          </p:cNvSpPr>
          <p:nvPr/>
        </p:nvSpPr>
        <p:spPr>
          <a:xfrm xmlns:a="http://schemas.openxmlformats.org/drawingml/2006/main">
            <a:off x="10572750" y="6505575"/>
            <a:ext cx="668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B3A"/>
                </a:solidFill>
                <a:latin typeface="Open Sauce"/>
                <a:ea typeface="Open Sauce"/>
                <a:cs typeface="Open Sauce"/>
              </a:defRPr>
            </a:pPr>
            <a:r>
              <a:rPr sz="2625" b="1">
                <a:solidFill>
                  <a:srgbClr val="183B3A"/>
                </a:solidFill>
                <a:latin typeface="Open Sauce"/>
                <a:ea typeface="Open Sauce"/>
                <a:cs typeface="Open Sauce"/>
              </a:rPr>
              <a:t>Next, beyond this submission</a:t>
            </a:r>
          </a:p>
        </p:txBody>
      </p:sp>
      <p:sp>
        <p:nvSpPr>
          <p:cNvPr id="24" name="next">
            <a:extLst xmlns:a="http://schemas.openxmlformats.org/drawingml/2006/main">
              <a:ext uri="{FF2B5EF4-FFF2-40B4-BE49-F238E27FC236}">
                <a16:creationId xmlns:a16="http://schemas.microsoft.com/office/drawing/2014/main" id="{ED068939-7686-42B0-A5A9-E5EB0514DED2}"/>
              </a:ext>
            </a:extLst>
          </p:cNvPr>
          <p:cNvSpPr>
            <a:spLocks xmlns:a="http://schemas.openxmlformats.org/drawingml/2006/main" noGrp="1"/>
          </p:cNvSpPr>
          <p:nvPr/>
        </p:nvSpPr>
        <p:spPr>
          <a:xfrm xmlns:a="http://schemas.openxmlformats.org/drawingml/2006/main">
            <a:off x="10572750" y="7181850"/>
            <a:ext cx="66865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Issuer-attested enrollment</a:t>
            </a:r>
          </a:p>
          <a:p xmlns:a="http://schemas.openxmlformats.org/drawingml/2006/main">
            <a:pPr algn="l">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Holder-controlled disclosure signatures</a:t>
            </a:r>
          </a:p>
          <a:p xmlns:a="http://schemas.openxmlformats.org/drawingml/2006/main">
            <a:pPr algn="l">
              <a:defRPr sz="2250" b="0">
                <a:solidFill>
                  <a:srgbClr val="183B3A"/>
                </a:solidFill>
                <a:latin typeface="Open Sauce"/>
                <a:ea typeface="Open Sauce"/>
                <a:cs typeface="Open Sauce"/>
              </a:defRPr>
            </a:pPr>
            <a:r>
              <a:rPr sz="2250" b="0">
                <a:solidFill>
                  <a:srgbClr val="183B3A"/>
                </a:solidFill>
                <a:latin typeface="Open Sauce"/>
                <a:ea typeface="Open Sauce"/>
                <a:cs typeface="Open Sauce"/>
              </a:rPr>
              <a:t>Production key and operational hardening</a:t>
            </a:r>
          </a:p>
        </p:txBody>
      </p:sp>
      <p:sp>
        <p:nvSpPr>
          <p:cNvPr id="25" name="repository">
            <a:extLst xmlns:a="http://schemas.openxmlformats.org/drawingml/2006/main">
              <a:ext uri="{FF2B5EF4-FFF2-40B4-BE49-F238E27FC236}">
                <a16:creationId xmlns:a16="http://schemas.microsoft.com/office/drawing/2014/main" id="{1E5B8E06-BB00-4A72-83B1-5A64B987D6F0}"/>
              </a:ext>
            </a:extLst>
          </p:cNvPr>
          <p:cNvSpPr>
            <a:spLocks xmlns:a="http://schemas.openxmlformats.org/drawingml/2006/main" noGrp="1"/>
          </p:cNvSpPr>
          <p:nvPr/>
        </p:nvSpPr>
        <p:spPr>
          <a:xfrm xmlns:a="http://schemas.openxmlformats.org/drawingml/2006/main">
            <a:off x="1028700" y="9067800"/>
            <a:ext cx="11525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086F68"/>
                </a:solidFill>
                <a:latin typeface="Open Sauce"/>
                <a:ea typeface="Open Sauce"/>
                <a:cs typeface="Open Sauce"/>
              </a:defRPr>
            </a:pPr>
            <a:r>
              <a:rPr sz="2925" b="1">
                <a:solidFill>
                  <a:srgbClr val="086F68"/>
                </a:solidFill>
                <a:latin typeface="Open Sauce"/>
                <a:ea typeface="Open Sauce"/>
                <a:cs typeface="Open Sauce"/>
              </a:rPr>
              <a:t>github.com/legoambarish/Foliolet</a:t>
            </a:r>
          </a:p>
        </p:txBody>
      </p:sp>
      <p:sp>
        <p:nvSpPr>
          <p:cNvPr id="26" name="evidence-label">
            <a:extLst xmlns:a="http://schemas.openxmlformats.org/drawingml/2006/main">
              <a:ext uri="{FF2B5EF4-FFF2-40B4-BE49-F238E27FC236}">
                <a16:creationId xmlns:a16="http://schemas.microsoft.com/office/drawing/2014/main" id="{97BE6117-3C38-4C4C-ABDA-F73ABD9F1BCC}"/>
              </a:ext>
            </a:extLst>
          </p:cNvPr>
          <p:cNvSpPr>
            <a:spLocks xmlns:a="http://schemas.openxmlformats.org/drawingml/2006/main" noGrp="1"/>
          </p:cNvSpPr>
          <p:nvPr/>
        </p:nvSpPr>
        <p:spPr>
          <a:xfrm xmlns:a="http://schemas.openxmlformats.org/drawingml/2006/main">
            <a:off x="12001500" y="9191625"/>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0">
                <a:solidFill>
                  <a:srgbClr val="526767"/>
                </a:solidFill>
                <a:latin typeface="Open Sauce"/>
                <a:ea typeface="Open Sauce"/>
                <a:cs typeface="Open Sauce"/>
              </a:defRPr>
            </a:pPr>
            <a:r>
              <a:rPr sz="1875" b="0">
                <a:solidFill>
                  <a:srgbClr val="526767"/>
                </a:solidFill>
                <a:latin typeface="Open Sauce"/>
                <a:ea typeface="Open Sauce"/>
                <a:cs typeface="Open Sauce"/>
              </a:rPr>
              <a:t>Code · runbook · validation evidence</a:t>
            </a:r>
          </a:p>
        </p:txBody>
      </p:sp>
    </p:spTree>
    <p:extLst>
      <p:ext uri="{BB962C8B-B14F-4D97-AF65-F5344CB8AC3E}">
        <p14:creationId xmlns:p14="http://schemas.microsoft.com/office/powerpoint/2010/main" val="168989559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2026-10-02T13:20:11.2780000Z</dcterms:created>
  <dcterms:modified xsi:type="dcterms:W3CDTF">2026-10-02T13:20:11.2780000Z</dcterms:modified>
</coreProperties>
</file>